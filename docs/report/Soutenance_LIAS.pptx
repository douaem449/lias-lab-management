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s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1886233" cy="713232"/>
          </a:xfrm>
          <a:prstGeom prst="rect">
            <a:avLst/>
          </a:prstGeom>
        </p:spPr>
      </p:pic>
      <p:pic>
        <p:nvPicPr>
          <p:cNvPr id="6" name="Picture 5" descr="ds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676656"/>
            <a:ext cx="1880017" cy="6035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755648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Université Hassan II de Casablanca  ·  Faculté des Sciences Ben M'Sik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8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Master Data Science &amp; Big Data  ·  Année universitaire 2025–2026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248716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06624"/>
            <a:ext cx="9418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PROJET DE FIN DE MODULE · JAVA ENTERPRISE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Plateforme de gestion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1C2638"/>
                </a:solidFill>
                <a:latin typeface="Georgia"/>
              </a:rPr>
              <a:t>du laboratoire LIAS</a:t>
            </a:r>
          </a:p>
        </p:txBody>
      </p:sp>
      <p:pic>
        <p:nvPicPr>
          <p:cNvPr id="12" name="Picture 11" descr="li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434840"/>
            <a:ext cx="2132054" cy="71323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5532120"/>
            <a:ext cx="10607040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Réalisé par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984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Douae Moussaoui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760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5A6472"/>
                </a:solidFill>
                <a:latin typeface="Calibri"/>
              </a:rPr>
              <a:t>Encadrant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9984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Pr. Abdessamad Belangour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01 · LE SUJET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Un laboratoire à outiller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Le LIAS gère aujourd'hui ses membres, ses mandats et sa production scientifique sans outil unifié.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62907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649224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Le cahier des charges demande « deux applications en une » : un site institutionnel ouvert au public, et un système d'information interne.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1221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1434"/>
            <a:ext cx="6492240" cy="84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Il couvre tout le cycle de vie du laboratoire : adhésions, statuts, gouvernance, publications, événements, matériel, conventions, procès-verbaux, rapport annuel.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39535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79747"/>
            <a:ext cx="6492240" cy="561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1C2638"/>
                </a:solidFill>
                <a:latin typeface="Calibri"/>
              </a:rPr>
              <a:t>Une règle générale domine tout le reste : aucune donnée ne doit jamais être perdue.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103120"/>
            <a:ext cx="3685032" cy="310896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359152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936667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2359152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2936667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modules
fonctionnels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858768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436283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rôles
applicatifs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858768"/>
            <a:ext cx="1554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436283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statuts
d'appartenance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3212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1">
                <a:solidFill>
                  <a:srgbClr val="2D5CA0"/>
                </a:solidFill>
                <a:latin typeface="Calibri"/>
              </a:rPr>
              <a:t>La difficulté n'est pas le nombre de modules : elle est dans les règles qui les relient.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515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02 · LA DIFFICULTÉ CENTRALE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5544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Georgia"/>
              </a:rPr>
              <a:t>STATUT  ≠  MANDAT  ≠ 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87168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Le cahier des charges interdit de confondre ces trois notions. Elles se ressemblent, et c'est précisément le piège.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STATUT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Appartenance au laboratoire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Permanent · Associé · Doctorant
Retraité · Ancien membre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53128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MANDAT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Responsabilité institutionnelle, datée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Directeur · Vice-directeur
Chef d'équipe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3383280"/>
            <a:ext cx="3090672" cy="2011680"/>
          </a:xfrm>
          <a:prstGeom prst="rect">
            <a:avLst/>
          </a:prstGeom>
          <a:solidFill>
            <a:srgbClr val="26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54696" y="3383280"/>
            <a:ext cx="3090672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9016" y="3639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RÔLE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9016" y="4023360"/>
            <a:ext cx="25786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Droits dans l'application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4553712"/>
            <a:ext cx="25786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9 valeurs, jamais saisies
à la 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Un retraité qui reste directeur en base ne doit conserver aucun droit. Le système doit l'imposer, pas l'espérer.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02 · LA RÉPONSE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rôle est calculé, jamais saisi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service unique dérive le rôle effectif ; aucun écran ne permet de le fixer à la main.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48840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500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STATUT
courant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27832"/>
            <a:ext cx="2103120" cy="896112"/>
          </a:xfrm>
          <a:prstGeom prst="rect">
            <a:avLst/>
          </a:prstGeom>
          <a:solidFill>
            <a:srgbClr val="EEF3FB"/>
          </a:solidFill>
          <a:ln w="9525">
            <a:solidFill>
              <a:srgbClr val="BFC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MANDATS
actifs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44368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2148840"/>
            <a:ext cx="3703320" cy="1975104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03320" y="2148840"/>
            <a:ext cx="3703320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487168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UserRoleSyncService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944368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C8D2E0"/>
                </a:solidFill>
                <a:latin typeface="Calibri"/>
              </a:rPr>
              <a:t>calcule le rôle,
l'historise avec sa cause,
et le réconcilie au démarrage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571231" y="2743200"/>
            <a:ext cx="548640" cy="42062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578608"/>
            <a:ext cx="2926080" cy="1115568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962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RÔLE EFFECTIF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825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26280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Un statut gelé — retraité ou ancien membre — l'emporte sur tout mandat résiduel.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93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367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À défaut, le mandat le plus élevé décide ; à défaut de mandat, le statut décide.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403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347208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Chaque changement ouvre une ligne d'historique portant sa cause. La réconciliation au démarrage est idempotente : elle n'écrit rien si tout est déjà cohérent.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03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Architecture en trois tiers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React 19 · Vite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21 pages · 27 composants
8 modules de design system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42231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874519"/>
            <a:ext cx="338328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Spring Boot 3.3 · Java 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22 contrôleurs REST · 28 services
sécurité par méthode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45552" y="2615184"/>
            <a:ext cx="219456" cy="329184"/>
          </a:xfrm>
          <a:prstGeom prst="rightArrow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874519"/>
            <a:ext cx="3383280" cy="1810512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874519"/>
            <a:ext cx="3383280" cy="54864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1031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2D5CA0"/>
                </a:solidFill>
                <a:latin typeface="Calibri"/>
              </a:rPr>
              <a:t>PERSISTANCE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0487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1C2638"/>
                </a:solidFill>
                <a:latin typeface="Georgia"/>
              </a:rPr>
              <a:t>PostgreSQL 18 · Flyway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816352"/>
            <a:ext cx="2999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30 entités JPA · 30 tables
schéma versionné V1 → V3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5020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AUTRES BRIQUES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5395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297680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Sécurité : Spring Security 6.3, JWT signé HS512 (jjwt 0.12.6), BCrypt coût 12.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644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7081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Aucune bibliothèque d'interface tierce : le système de composants est écrit pour le projet.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1748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18608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Rapport annuel généré en PDF, planifié au 1ᵉʳ janvier ; envoi de courriel intégré.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portail public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Accessible sans compte, conformément au §2.1 du cahier des charges.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Présente le laboratoire, ses équipes, ses publications et ses événements.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Point d'entrée de la demande d'adhésion en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1-portail-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tableau de bord interne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Ce que voit l'utilisateur dépend de son rôle effectif, pas d'un paramétrage.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6348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14244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Indicateurs calculés sur les données réelles du laboratoire.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Recherche transverse accessible depuis toutes les pages.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La gouvernance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L'organigramme n'est pas saisi : il est déduit des mandats actifs.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mandat clos reste dans l'historique ; il disparaît seulement de l'exercice.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Un poste sans titulaire est affiché comme vacant, non masqué.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9-gouvernance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04 ·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journal d'audit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92375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Chaque opération sensible laisse une trace datée et attribuée.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3234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83104"/>
            <a:ext cx="3108960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Écrit dans une transaction indépendante : la trace survit à l'annulation.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06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2827"/>
            <a:ext cx="3108960" cy="462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Consultable par l'administrateur système et la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1396" y="1613916"/>
            <a:ext cx="7232904" cy="454456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0-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7168896" cy="4480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jeton n'est pas cru sur parole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Un choix de conception à contre-courant de l'usage, et assumé comme tel.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5120640" cy="214884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5A6472"/>
                </a:solidFill>
                <a:latin typeface="Calibri"/>
              </a:rPr>
              <a:t>L'USAGE RÉPANDU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4617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Le rôle est lu dans le jeton. Tant que le jeton n'a pas expiré, il transporte des droits qui peuvent avoir été révoqués entre-temps.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349240" cy="21488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CE QUI EST FAIT ICI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87752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À chaque requête, les habilitations sont rechargées depuis la base. Le rôle inscrit dans le jeton n'autorise rien : il n'est là que pour le client.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4539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Conséquence : mettre un membre à la retraite lui coupe l'accès à la requête suivante, sans aucune liste de jetons révoqués à tenir.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12001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63744"/>
            <a:ext cx="10424159" cy="264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Coût assumé : une lecture de base supplémentaire par requête.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30478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74208"/>
            <a:ext cx="10424159" cy="52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C2638"/>
                </a:solidFill>
                <a:latin typeface="Calibri"/>
              </a:rPr>
              <a:t>Mots de passe hachés BCrypt coût 12. Clé de signature obligatoire, 64 octets minimum, sans valeur par défaut : sans elle, le serveur refuse de démarrer.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05 · TRAÇABILITÉ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Rien n'est jamais détruit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Règle §21 du cahier des charges, appliquée de bout en bout.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Suppression logique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Aucun DELETE. Les lignes archivées sont filtrées au niveau du mapping, jamais effacées.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9184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9184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Quatre historiques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5760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Statuts, rôles, affiliations, appartenances d'équipe : chaque changement ouvre une période datée.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572000"/>
            <a:ext cx="50292" cy="100584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C2638"/>
                </a:solidFill>
                <a:latin typeface="Georgia"/>
              </a:rPr>
              <a:t>Journal d'audit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Transaction indépendante : la trace subsiste même si l'opération auditée est annulée.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3036" y="1979676"/>
            <a:ext cx="5550408" cy="3493008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-demandes-adhe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011680"/>
            <a:ext cx="5486400" cy="3429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56235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5A6472"/>
                </a:solidFill>
                <a:latin typeface="Calibri"/>
              </a:rPr>
              <a:t>Une décision d'adhésion : réservée au directeur en mandat, et tracée.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91 tests automatisés, aucun échec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L'effort de test vise les règles dont une régression serait à la fois plausible et grave.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1965960"/>
            <a:ext cx="7680960" cy="310896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082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02082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020824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RÈGLE PROTÉGÉE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76856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2714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UserRoleSyncServiceTest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32714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2714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Dérivation statut / mandat / rôle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33472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AuthorizationMatrixTest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633472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33472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Matrice d'autorisation des 9 rôles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9503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93979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EquipmentServiceTest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939796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3979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Invariant de stock du matériel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24612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MemberServiceTest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24612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24612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Archivage, retour, avatar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02152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55244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NotificationServiceTest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55244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55244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Ciblage ; propriété du destinataire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85876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CustomUserDetailsTest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58768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858768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Gel retraités ; membre archivé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114800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165091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JwtSigningKeyTest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4165091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165091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Clé de signature obligatoire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47141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AdminAccountInitializerTest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4471416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471416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Amorçage de l'administrateur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27448"/>
            <a:ext cx="7680960" cy="306324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477774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GlobalSearchServiceTest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0520" y="47777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777740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Doctorants : modules internes fermés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08406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C2638"/>
                </a:solidFill>
                <a:latin typeface="Calibri"/>
              </a:rPr>
              <a:t>AuditTrailIntegrationTest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0520" y="50840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084064"/>
            <a:ext cx="3291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Calibri"/>
              </a:rPr>
              <a:t>Audit transactionnel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1965960"/>
            <a:ext cx="2606040" cy="146304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06840" y="2221991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92608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3C8DAE"/>
                </a:solidFill>
                <a:latin typeface="Calibri"/>
              </a:rPr>
              <a:t>tests · 0 échec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15400" y="330098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alibri"/>
              </a:rPr>
              <a:t>19 classes de test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3703320"/>
            <a:ext cx="2651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Deux niveaux : des tests unitaires isolés par doubles, et deux suites d'intégration qui démarrent le contexte Spring complet sur une base en mémoire.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53492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1">
                <a:solidFill>
                  <a:srgbClr val="2D5CA0"/>
                </a:solidFill>
                <a:latin typeface="Calibri"/>
              </a:rPr>
              <a:t>Aucune couverture de code n'est annoncée : aucun outil n'est configuré.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Sept défauts trouvés, sept défauts corrigés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Aucun n'aurait été révélé par la compilation : ils viennent d'un parcours réel et d'une relecture.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0208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9339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Rôle obsolète sur d'anciens comptes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67728" y="20711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99339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Réconciliation ajoutée au démarrage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774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46603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1917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Commandes visibles mais refusées au vice-directeur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967728" y="25968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51917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Interface alignée sur le serveur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90322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7238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04495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Paramètre invalide : erreur 500 au lieu de 400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67728" y="312267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04495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Gestionnaires dédiés et 4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42900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5981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57073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Réponse 401 au corps vide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967728" y="364845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357073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Convertisseur JSON du contexte injecté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5478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12394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96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Mandat actif conservé par un membre archivé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67728" y="417423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409651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Clôture à l'archivage, garde-fou en lecture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8056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497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62229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Administrateur d'amorçage à secret connu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967728" y="470001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60920" y="462229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Profil dev, secret externalisé, rotation exigée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006340"/>
            <a:ext cx="10835640" cy="7315"/>
          </a:xfrm>
          <a:prstGeom prst="rect">
            <a:avLst/>
          </a:prstGeom>
          <a:solidFill>
            <a:srgbClr val="E4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1755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BFC8D4"/>
                </a:solidFill>
                <a:latin typeface="Georgia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14807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1C2638"/>
                </a:solidFill>
                <a:latin typeface="Calibri"/>
              </a:rPr>
              <a:t>Clé de signature à valeur de repli active en production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967728" y="5225796"/>
            <a:ext cx="201168" cy="118872"/>
          </a:xfrm>
          <a:prstGeom prst="rightArrow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60920" y="5148072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Variable obligatoire, contrôle au démarrage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742432"/>
            <a:ext cx="10835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Ces sept défauts viennent de l'audit fonctionnel. L'audit de sécurité du code en a corrigé 5 critiques (P0) et 9 additionnelles — voir AUDIT.md.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07 ·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Ce qui a été livré</a:t>
            </a:r>
          </a:p>
        </p:txBody>
      </p:sp>
      <p:pic>
        <p:nvPicPr>
          <p:cNvPr id="6" name="Picture 5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1874519"/>
            <a:ext cx="10835640" cy="14173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sections du cahier
des charges couvertes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8376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entités JPA
30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contrôleurs REST
sous /api/v1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pages d'interface
21 routes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3" y="2066543"/>
            <a:ext cx="1965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 i="0">
                <a:solidFill>
                  <a:srgbClr val="2D5CA0"/>
                </a:solidFill>
                <a:latin typeface="Georgia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3" y="26440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tests automatisés
0 échec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118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VOLUMÉTRIE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50208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10 285 lignes de Java côté serveur, 1 946 lignes de tests, 13 471 lignes de JavaScript côté client, 750 lignes de migration SQL.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2D5CA0"/>
                </a:solidFill>
                <a:latin typeface="Calibri"/>
              </a:rPr>
              <a:t>Le rapport qui accompagne ce travail compte 85 pages, 35 figures et 19 tableaux.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LIMITES ASSUMÉES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99944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950208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Pas de thème sombre, pourtant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34971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00474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mesure de couverture : rien n'est annoncé.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9997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650740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Trois modules sans tests dédiés, validés manuellement.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05024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001006"/>
            <a:ext cx="493776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Aucune campagne de performance sous charge.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D5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08 ·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1C2638"/>
                </a:solidFill>
                <a:latin typeface="Georgia"/>
              </a:rPr>
              <a:t>Le prolongement naturel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5A6472"/>
                </a:solidFill>
                <a:latin typeface="Calibri"/>
              </a:rPr>
              <a:t>Il rejoint précisément la spécialité du Master.</a:t>
            </a:r>
          </a:p>
        </p:txBody>
      </p:sp>
      <p:pic>
        <p:nvPicPr>
          <p:cNvPr id="7" name="Picture 6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384048"/>
            <a:ext cx="359305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011680"/>
            <a:ext cx="5029200" cy="3246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2D5CA0"/>
                </a:solidFill>
                <a:latin typeface="Calibri"/>
              </a:rPr>
              <a:t>COURT ET MOYEN TERME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46716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Thème sombre et outil de couverture de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170134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120898"/>
            <a:ext cx="416052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Tests automatisés sur les trois modules découverts.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15802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766566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Rafraîchissement transparent du jeton d'accès.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39220"/>
            <a:ext cx="82296" cy="82296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189984"/>
            <a:ext cx="416052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C2638"/>
                </a:solidFill>
                <a:latin typeface="Calibri"/>
              </a:rPr>
              <a:t>Découpage du paquet client par route.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11680"/>
            <a:ext cx="5349240" cy="324612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11680"/>
            <a:ext cx="5349240" cy="54864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3C8DAE"/>
                </a:solidFill>
                <a:latin typeface="Calibri"/>
              </a:rPr>
              <a:t>LE VRAI PROLONGEMENT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4800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500" b="0" i="0">
                <a:solidFill>
                  <a:srgbClr val="C8D2E0"/>
                </a:solidFill>
                <a:latin typeface="Calibri"/>
              </a:rPr>
              <a:t>Parce qu'aucune donnée n'est détruite, chaque table d'historique est déjà une série temporelle : évolution des effectifs par statut, productivité des équipes, durée moyenne des mandats, saisonnalité de l'activité.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34840"/>
            <a:ext cx="4800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Calibri"/>
              </a:rPr>
              <a:t>La base est conçue pour qu'on puisse l'analyser, pas seulement la consulter.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04688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2D5CA0"/>
                </a:solidFill>
                <a:latin typeface="Calibri"/>
              </a:rPr>
              <a:t>C'est l'articulation la plus directe entre ce projet de module JEE et la finalité du Master.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199632"/>
            <a:ext cx="10820095" cy="10972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LIAS — Plateforme de gestion du laboratoire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3276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C8DAE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9966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Une plateforme où le rôle d'un membre ne peut pas mentir sur sa situation réelle, et où aucune trace du passé du laboratoire n'est perdue.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2743200" cy="18288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46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i="0">
                <a:solidFill>
                  <a:srgbClr val="C8D2E0"/>
                </a:solidFill>
                <a:latin typeface="Calibri"/>
              </a:rPr>
              <a:t>21 sections du cahier des charges couvertes · 91 tests sans échec · 7 défauts fonctionnels, 5 critiques et 9 additionnelles · limites assumées.</a:t>
            </a:r>
          </a:p>
        </p:txBody>
      </p:sp>
      <p:pic>
        <p:nvPicPr>
          <p:cNvPr id="8" name="Picture 7" descr="lia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92040"/>
            <a:ext cx="666454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C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12191695" cy="45720"/>
          </a:xfrm>
          <a:prstGeom prst="rect">
            <a:avLst/>
          </a:prstGeom>
          <a:solidFill>
            <a:srgbClr val="3C8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920240"/>
            <a:ext cx="2405395" cy="8046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800" b="1" i="0">
                <a:solidFill>
                  <a:srgbClr val="1C2638"/>
                </a:solidFill>
                <a:latin typeface="Georgia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900" b="0" i="0">
                <a:solidFill>
                  <a:srgbClr val="2D5CA0"/>
                </a:solidFill>
                <a:latin typeface="Calibri"/>
              </a:rPr>
              <a:t>Vos questions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6048" y="4681728"/>
            <a:ext cx="2286000" cy="16459"/>
          </a:xfrm>
          <a:prstGeom prst="rect">
            <a:avLst/>
          </a:prstGeom>
          <a:solidFill>
            <a:srgbClr val="BFC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A6472"/>
                </a:solidFill>
                <a:latin typeface="Calibri"/>
              </a:rPr>
              <a:t>Douae Moussaoui  ·  Encadrant : Pr. Abdessamad Belangour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Master Data Science &amp; Big Data  ·  Faculté des Sciences Ben M'Sik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