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481328"/>
            <a:ext cx="10765231" cy="274320"/>
          </a:xfrm>
          <a:prstGeom prst="rect">
            <a:avLst/>
          </a:prstGeom>
          <a:noFill/>
        </p:spPr>
        <p:txBody>
          <a:bodyPr wrap="square" lIns="0" rIns="0" tIns="0" bIns="0" anchor="t">
            <a:spAutoFit/>
          </a:bodyPr>
          <a:lstStyle/>
          <a:p>
            <a:pPr algn="l">
              <a:lnSpc>
                <a:spcPct val="95000"/>
              </a:lnSpc>
              <a:spcAft>
                <a:spcPts val="0"/>
              </a:spcAft>
            </a:pPr>
            <a:r>
              <a:rPr sz="1150" b="1">
                <a:solidFill>
                  <a:srgbClr val="8FB0D0"/>
                </a:solidFill>
                <a:latin typeface="Segoe UI"/>
              </a:rPr>
              <a:t>FACULTÉ DES SCIENCES BEN M'SIK — UNIVERSITÉ HASSAN II DE CASABLANCA</a:t>
            </a:r>
          </a:p>
        </p:txBody>
      </p:sp>
      <p:sp>
        <p:nvSpPr>
          <p:cNvPr id="4" name="TextBox 3"/>
          <p:cNvSpPr txBox="1"/>
          <p:nvPr/>
        </p:nvSpPr>
        <p:spPr>
          <a:xfrm>
            <a:off x="713232" y="1956816"/>
            <a:ext cx="9692640" cy="1371600"/>
          </a:xfrm>
          <a:prstGeom prst="rect">
            <a:avLst/>
          </a:prstGeom>
          <a:noFill/>
        </p:spPr>
        <p:txBody>
          <a:bodyPr wrap="square" lIns="0" rIns="0" tIns="0" bIns="0" anchor="t">
            <a:spAutoFit/>
          </a:bodyPr>
          <a:lstStyle/>
          <a:p>
            <a:pPr algn="l">
              <a:lnSpc>
                <a:spcPct val="95000"/>
              </a:lnSpc>
              <a:spcAft>
                <a:spcPts val="0"/>
              </a:spcAft>
            </a:pPr>
            <a:r>
              <a:rPr sz="6200" b="0">
                <a:solidFill>
                  <a:srgbClr val="FFFFFF"/>
                </a:solidFill>
                <a:latin typeface="Segoe UI Light"/>
              </a:rPr>
              <a:t>LIAS</a:t>
            </a:r>
          </a:p>
        </p:txBody>
      </p:sp>
      <p:sp>
        <p:nvSpPr>
          <p:cNvPr id="5" name="TextBox 4"/>
          <p:cNvSpPr txBox="1"/>
          <p:nvPr/>
        </p:nvSpPr>
        <p:spPr>
          <a:xfrm>
            <a:off x="713232" y="2852928"/>
            <a:ext cx="9692640" cy="1005840"/>
          </a:xfrm>
          <a:prstGeom prst="rect">
            <a:avLst/>
          </a:prstGeom>
          <a:noFill/>
        </p:spPr>
        <p:txBody>
          <a:bodyPr wrap="square" lIns="0" rIns="0" tIns="0" bIns="0" anchor="t">
            <a:spAutoFit/>
          </a:bodyPr>
          <a:lstStyle/>
          <a:p>
            <a:pPr algn="l">
              <a:lnSpc>
                <a:spcPct val="95000"/>
              </a:lnSpc>
              <a:spcAft>
                <a:spcPts val="0"/>
              </a:spcAft>
            </a:pPr>
            <a:r>
              <a:rPr sz="2500" b="0">
                <a:solidFill>
                  <a:srgbClr val="FFFFFF"/>
                </a:solidFill>
                <a:latin typeface="Segoe UI Light"/>
              </a:rPr>
              <a:t>Laboratoire d'Informatique et Automatique pour les Systèmes</a:t>
            </a:r>
          </a:p>
        </p:txBody>
      </p:sp>
      <p:sp>
        <p:nvSpPr>
          <p:cNvPr id="6" name="TextBox 5"/>
          <p:cNvSpPr txBox="1"/>
          <p:nvPr/>
        </p:nvSpPr>
        <p:spPr>
          <a:xfrm>
            <a:off x="713232" y="3602736"/>
            <a:ext cx="9692640" cy="457200"/>
          </a:xfrm>
          <a:prstGeom prst="rect">
            <a:avLst/>
          </a:prstGeom>
          <a:noFill/>
        </p:spPr>
        <p:txBody>
          <a:bodyPr wrap="square" lIns="0" rIns="0" tIns="0" bIns="0" anchor="t">
            <a:spAutoFit/>
          </a:bodyPr>
          <a:lstStyle/>
          <a:p>
            <a:pPr algn="l">
              <a:lnSpc>
                <a:spcPct val="95000"/>
              </a:lnSpc>
              <a:spcAft>
                <a:spcPts val="0"/>
              </a:spcAft>
            </a:pPr>
            <a:r>
              <a:rPr sz="1600" b="0">
                <a:solidFill>
                  <a:srgbClr val="8FB0D0"/>
                </a:solidFill>
                <a:latin typeface="Segoe UI"/>
              </a:rPr>
              <a:t>Conception et réalisation d'une application web de gestion de laboratoire</a:t>
            </a:r>
          </a:p>
        </p:txBody>
      </p:sp>
      <p:sp>
        <p:nvSpPr>
          <p:cNvPr id="7" name="Rectangle 6"/>
          <p:cNvSpPr/>
          <p:nvPr/>
        </p:nvSpPr>
        <p:spPr>
          <a:xfrm>
            <a:off x="713232" y="422452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4590288"/>
            <a:ext cx="5486400" cy="1097280"/>
          </a:xfrm>
          <a:prstGeom prst="rect">
            <a:avLst/>
          </a:prstGeom>
          <a:noFill/>
        </p:spPr>
        <p:txBody>
          <a:bodyPr wrap="square" lIns="0" rIns="0" tIns="0" bIns="0" anchor="t">
            <a:spAutoFit/>
          </a:bodyPr>
          <a:lstStyle/>
          <a:p>
            <a:pPr algn="l">
              <a:lnSpc>
                <a:spcPct val="95000"/>
              </a:lnSpc>
              <a:spcAft>
                <a:spcPts val="0"/>
              </a:spcAft>
            </a:pPr>
            <a:r>
              <a:rPr sz="1900" b="1">
                <a:solidFill>
                  <a:srgbClr val="FFFFFF"/>
                </a:solidFill>
                <a:latin typeface="Segoe UI"/>
              </a:rPr>
              <a:t>Douae Moussaoui</a:t>
            </a:r>
          </a:p>
        </p:txBody>
      </p:sp>
      <p:sp>
        <p:nvSpPr>
          <p:cNvPr id="9" name="TextBox 8"/>
          <p:cNvSpPr txBox="1"/>
          <p:nvPr/>
        </p:nvSpPr>
        <p:spPr>
          <a:xfrm>
            <a:off x="713232" y="4956048"/>
            <a:ext cx="6400800" cy="1097280"/>
          </a:xfrm>
          <a:prstGeom prst="rect">
            <a:avLst/>
          </a:prstGeom>
          <a:noFill/>
        </p:spPr>
        <p:txBody>
          <a:bodyPr wrap="square" lIns="0" rIns="0" tIns="0" bIns="0" anchor="t">
            <a:spAutoFit/>
          </a:bodyPr>
          <a:lstStyle/>
          <a:p>
            <a:pPr algn="l">
              <a:lnSpc>
                <a:spcPct val="125000"/>
              </a:lnSpc>
              <a:spcAft>
                <a:spcPts val="0"/>
              </a:spcAft>
            </a:pPr>
            <a:r>
              <a:rPr sz="1350" b="0">
                <a:solidFill>
                  <a:srgbClr val="8FB0D0"/>
                </a:solidFill>
                <a:latin typeface="Segoe UI"/>
              </a:rPr>
              <a:t>Master Data Science &amp; Big Data
Projet de fin de module — Java Enterprise Edition</a:t>
            </a:r>
          </a:p>
        </p:txBody>
      </p:sp>
      <p:sp>
        <p:nvSpPr>
          <p:cNvPr id="10" name="TextBox 9"/>
          <p:cNvSpPr txBox="1"/>
          <p:nvPr/>
        </p:nvSpPr>
        <p:spPr>
          <a:xfrm>
            <a:off x="8369503" y="4590288"/>
            <a:ext cx="3108960" cy="822960"/>
          </a:xfrm>
          <a:prstGeom prst="rect">
            <a:avLst/>
          </a:prstGeom>
          <a:noFill/>
        </p:spPr>
        <p:txBody>
          <a:bodyPr wrap="square" lIns="0" rIns="0" tIns="0" bIns="0" anchor="t">
            <a:spAutoFit/>
          </a:bodyPr>
          <a:lstStyle/>
          <a:p>
            <a:pPr algn="r">
              <a:lnSpc>
                <a:spcPct val="125000"/>
              </a:lnSpc>
              <a:spcAft>
                <a:spcPts val="0"/>
              </a:spcAft>
            </a:pPr>
            <a:r>
              <a:rPr sz="1350" b="0">
                <a:solidFill>
                  <a:srgbClr val="8FB0D0"/>
                </a:solidFill>
                <a:latin typeface="Segoe UI"/>
              </a:rPr>
              <a:t>Soutenance
Septembre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DÉROULEMENT</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Plan de la présentation</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847088"/>
            <a:ext cx="548640" cy="365760"/>
          </a:xfrm>
          <a:prstGeom prst="rect">
            <a:avLst/>
          </a:prstGeom>
          <a:noFill/>
        </p:spPr>
        <p:txBody>
          <a:bodyPr wrap="square" lIns="0" rIns="0" tIns="0" bIns="0" anchor="t">
            <a:spAutoFit/>
          </a:bodyPr>
          <a:lstStyle/>
          <a:p>
            <a:pPr algn="l">
              <a:lnSpc>
                <a:spcPct val="95000"/>
              </a:lnSpc>
              <a:spcAft>
                <a:spcPts val="0"/>
              </a:spcAft>
            </a:pPr>
            <a:r>
              <a:rPr sz="1700" b="1">
                <a:solidFill>
                  <a:srgbClr val="8FB0D0"/>
                </a:solidFill>
                <a:latin typeface="Consolas"/>
              </a:rPr>
              <a:t>01</a:t>
            </a:r>
          </a:p>
        </p:txBody>
      </p:sp>
      <p:sp>
        <p:nvSpPr>
          <p:cNvPr id="6" name="TextBox 5"/>
          <p:cNvSpPr txBox="1"/>
          <p:nvPr/>
        </p:nvSpPr>
        <p:spPr>
          <a:xfrm>
            <a:off x="1426464" y="1828800"/>
            <a:ext cx="4023360" cy="365760"/>
          </a:xfrm>
          <a:prstGeom prst="rect">
            <a:avLst/>
          </a:prstGeom>
          <a:noFill/>
        </p:spPr>
        <p:txBody>
          <a:bodyPr wrap="square" lIns="0" rIns="0" tIns="0" bIns="0" anchor="t">
            <a:spAutoFit/>
          </a:bodyPr>
          <a:lstStyle/>
          <a:p>
            <a:pPr algn="l">
              <a:lnSpc>
                <a:spcPct val="95000"/>
              </a:lnSpc>
              <a:spcAft>
                <a:spcPts val="0"/>
              </a:spcAft>
            </a:pPr>
            <a:r>
              <a:rPr sz="1650" b="1">
                <a:solidFill>
                  <a:srgbClr val="0F1B2D"/>
                </a:solidFill>
                <a:latin typeface="Segoe UI"/>
              </a:rPr>
              <a:t>Contexte et objectifs</a:t>
            </a:r>
          </a:p>
        </p:txBody>
      </p:sp>
      <p:sp>
        <p:nvSpPr>
          <p:cNvPr id="7" name="TextBox 6"/>
          <p:cNvSpPr txBox="1"/>
          <p:nvPr/>
        </p:nvSpPr>
        <p:spPr>
          <a:xfrm>
            <a:off x="5559552" y="1847088"/>
            <a:ext cx="5943600" cy="365760"/>
          </a:xfrm>
          <a:prstGeom prst="rect">
            <a:avLst/>
          </a:prstGeom>
          <a:noFill/>
        </p:spPr>
        <p:txBody>
          <a:bodyPr wrap="square" lIns="0" rIns="0" tIns="0" bIns="0" anchor="t">
            <a:spAutoFit/>
          </a:bodyPr>
          <a:lstStyle/>
          <a:p>
            <a:pPr algn="l">
              <a:lnSpc>
                <a:spcPct val="95000"/>
              </a:lnSpc>
              <a:spcAft>
                <a:spcPts val="0"/>
              </a:spcAft>
            </a:pPr>
            <a:r>
              <a:rPr sz="1400" b="0">
                <a:solidFill>
                  <a:srgbClr val="64748B"/>
                </a:solidFill>
                <a:latin typeface="Segoe UI"/>
              </a:rPr>
              <a:t>Le besoin, le cahier des charges</a:t>
            </a:r>
          </a:p>
        </p:txBody>
      </p:sp>
      <p:sp>
        <p:nvSpPr>
          <p:cNvPr id="8" name="Rectangle 7"/>
          <p:cNvSpPr/>
          <p:nvPr/>
        </p:nvSpPr>
        <p:spPr>
          <a:xfrm>
            <a:off x="713232" y="2304288"/>
            <a:ext cx="10765231" cy="9525"/>
          </a:xfrm>
          <a:prstGeom prst="rect">
            <a:avLst/>
          </a:prstGeom>
          <a:solidFill>
            <a:srgbClr val="D8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468880"/>
            <a:ext cx="548640" cy="365760"/>
          </a:xfrm>
          <a:prstGeom prst="rect">
            <a:avLst/>
          </a:prstGeom>
          <a:noFill/>
        </p:spPr>
        <p:txBody>
          <a:bodyPr wrap="square" lIns="0" rIns="0" tIns="0" bIns="0" anchor="t">
            <a:spAutoFit/>
          </a:bodyPr>
          <a:lstStyle/>
          <a:p>
            <a:pPr algn="l">
              <a:lnSpc>
                <a:spcPct val="95000"/>
              </a:lnSpc>
              <a:spcAft>
                <a:spcPts val="0"/>
              </a:spcAft>
            </a:pPr>
            <a:r>
              <a:rPr sz="1700" b="1">
                <a:solidFill>
                  <a:srgbClr val="8FB0D0"/>
                </a:solidFill>
                <a:latin typeface="Consolas"/>
              </a:rPr>
              <a:t>02</a:t>
            </a:r>
          </a:p>
        </p:txBody>
      </p:sp>
      <p:sp>
        <p:nvSpPr>
          <p:cNvPr id="10" name="TextBox 9"/>
          <p:cNvSpPr txBox="1"/>
          <p:nvPr/>
        </p:nvSpPr>
        <p:spPr>
          <a:xfrm>
            <a:off x="1426464" y="2450592"/>
            <a:ext cx="4023360" cy="365760"/>
          </a:xfrm>
          <a:prstGeom prst="rect">
            <a:avLst/>
          </a:prstGeom>
          <a:noFill/>
        </p:spPr>
        <p:txBody>
          <a:bodyPr wrap="square" lIns="0" rIns="0" tIns="0" bIns="0" anchor="t">
            <a:spAutoFit/>
          </a:bodyPr>
          <a:lstStyle/>
          <a:p>
            <a:pPr algn="l">
              <a:lnSpc>
                <a:spcPct val="95000"/>
              </a:lnSpc>
              <a:spcAft>
                <a:spcPts val="0"/>
              </a:spcAft>
            </a:pPr>
            <a:r>
              <a:rPr sz="1650" b="1">
                <a:solidFill>
                  <a:srgbClr val="0F1B2D"/>
                </a:solidFill>
                <a:latin typeface="Segoe UI"/>
              </a:rPr>
              <a:t>La règle structurante</a:t>
            </a:r>
          </a:p>
        </p:txBody>
      </p:sp>
      <p:sp>
        <p:nvSpPr>
          <p:cNvPr id="11" name="TextBox 10"/>
          <p:cNvSpPr txBox="1"/>
          <p:nvPr/>
        </p:nvSpPr>
        <p:spPr>
          <a:xfrm>
            <a:off x="5559552" y="2468880"/>
            <a:ext cx="5943600" cy="365760"/>
          </a:xfrm>
          <a:prstGeom prst="rect">
            <a:avLst/>
          </a:prstGeom>
          <a:noFill/>
        </p:spPr>
        <p:txBody>
          <a:bodyPr wrap="square" lIns="0" rIns="0" tIns="0" bIns="0" anchor="t">
            <a:spAutoFit/>
          </a:bodyPr>
          <a:lstStyle/>
          <a:p>
            <a:pPr algn="l">
              <a:lnSpc>
                <a:spcPct val="95000"/>
              </a:lnSpc>
              <a:spcAft>
                <a:spcPts val="0"/>
              </a:spcAft>
            </a:pPr>
            <a:r>
              <a:rPr sz="1400" b="0">
                <a:solidFill>
                  <a:srgbClr val="64748B"/>
                </a:solidFill>
                <a:latin typeface="Segoe UI"/>
              </a:rPr>
              <a:t>Statut, rôle et mandat : trois notions distinctes</a:t>
            </a:r>
          </a:p>
        </p:txBody>
      </p:sp>
      <p:sp>
        <p:nvSpPr>
          <p:cNvPr id="12" name="Rectangle 11"/>
          <p:cNvSpPr/>
          <p:nvPr/>
        </p:nvSpPr>
        <p:spPr>
          <a:xfrm>
            <a:off x="713232" y="2926080"/>
            <a:ext cx="10765231" cy="9525"/>
          </a:xfrm>
          <a:prstGeom prst="rect">
            <a:avLst/>
          </a:prstGeom>
          <a:solidFill>
            <a:srgbClr val="D8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090672"/>
            <a:ext cx="548640" cy="365760"/>
          </a:xfrm>
          <a:prstGeom prst="rect">
            <a:avLst/>
          </a:prstGeom>
          <a:noFill/>
        </p:spPr>
        <p:txBody>
          <a:bodyPr wrap="square" lIns="0" rIns="0" tIns="0" bIns="0" anchor="t">
            <a:spAutoFit/>
          </a:bodyPr>
          <a:lstStyle/>
          <a:p>
            <a:pPr algn="l">
              <a:lnSpc>
                <a:spcPct val="95000"/>
              </a:lnSpc>
              <a:spcAft>
                <a:spcPts val="0"/>
              </a:spcAft>
            </a:pPr>
            <a:r>
              <a:rPr sz="1700" b="1">
                <a:solidFill>
                  <a:srgbClr val="8FB0D0"/>
                </a:solidFill>
                <a:latin typeface="Consolas"/>
              </a:rPr>
              <a:t>03</a:t>
            </a:r>
          </a:p>
        </p:txBody>
      </p:sp>
      <p:sp>
        <p:nvSpPr>
          <p:cNvPr id="14" name="TextBox 13"/>
          <p:cNvSpPr txBox="1"/>
          <p:nvPr/>
        </p:nvSpPr>
        <p:spPr>
          <a:xfrm>
            <a:off x="1426464" y="3072384"/>
            <a:ext cx="4023360" cy="365760"/>
          </a:xfrm>
          <a:prstGeom prst="rect">
            <a:avLst/>
          </a:prstGeom>
          <a:noFill/>
        </p:spPr>
        <p:txBody>
          <a:bodyPr wrap="square" lIns="0" rIns="0" tIns="0" bIns="0" anchor="t">
            <a:spAutoFit/>
          </a:bodyPr>
          <a:lstStyle/>
          <a:p>
            <a:pPr algn="l">
              <a:lnSpc>
                <a:spcPct val="95000"/>
              </a:lnSpc>
              <a:spcAft>
                <a:spcPts val="0"/>
              </a:spcAft>
            </a:pPr>
            <a:r>
              <a:rPr sz="1650" b="1">
                <a:solidFill>
                  <a:srgbClr val="0F1B2D"/>
                </a:solidFill>
                <a:latin typeface="Segoe UI"/>
              </a:rPr>
              <a:t>Architecture et technologies</a:t>
            </a:r>
          </a:p>
        </p:txBody>
      </p:sp>
      <p:sp>
        <p:nvSpPr>
          <p:cNvPr id="15" name="TextBox 14"/>
          <p:cNvSpPr txBox="1"/>
          <p:nvPr/>
        </p:nvSpPr>
        <p:spPr>
          <a:xfrm>
            <a:off x="5559552" y="3090672"/>
            <a:ext cx="5943600" cy="365760"/>
          </a:xfrm>
          <a:prstGeom prst="rect">
            <a:avLst/>
          </a:prstGeom>
          <a:noFill/>
        </p:spPr>
        <p:txBody>
          <a:bodyPr wrap="square" lIns="0" rIns="0" tIns="0" bIns="0" anchor="t">
            <a:spAutoFit/>
          </a:bodyPr>
          <a:lstStyle/>
          <a:p>
            <a:pPr algn="l">
              <a:lnSpc>
                <a:spcPct val="95000"/>
              </a:lnSpc>
              <a:spcAft>
                <a:spcPts val="0"/>
              </a:spcAft>
            </a:pPr>
            <a:r>
              <a:rPr sz="1400" b="0">
                <a:solidFill>
                  <a:srgbClr val="64748B"/>
                </a:solidFill>
                <a:latin typeface="Segoe UI"/>
              </a:rPr>
              <a:t>Jakarta EE, Spring Boot, React</a:t>
            </a:r>
          </a:p>
        </p:txBody>
      </p:sp>
      <p:sp>
        <p:nvSpPr>
          <p:cNvPr id="16" name="Rectangle 15"/>
          <p:cNvSpPr/>
          <p:nvPr/>
        </p:nvSpPr>
        <p:spPr>
          <a:xfrm>
            <a:off x="713232" y="3547872"/>
            <a:ext cx="10765231" cy="9525"/>
          </a:xfrm>
          <a:prstGeom prst="rect">
            <a:avLst/>
          </a:prstGeom>
          <a:solidFill>
            <a:srgbClr val="D8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3712464"/>
            <a:ext cx="548640" cy="365760"/>
          </a:xfrm>
          <a:prstGeom prst="rect">
            <a:avLst/>
          </a:prstGeom>
          <a:noFill/>
        </p:spPr>
        <p:txBody>
          <a:bodyPr wrap="square" lIns="0" rIns="0" tIns="0" bIns="0" anchor="t">
            <a:spAutoFit/>
          </a:bodyPr>
          <a:lstStyle/>
          <a:p>
            <a:pPr algn="l">
              <a:lnSpc>
                <a:spcPct val="95000"/>
              </a:lnSpc>
              <a:spcAft>
                <a:spcPts val="0"/>
              </a:spcAft>
            </a:pPr>
            <a:r>
              <a:rPr sz="1700" b="1">
                <a:solidFill>
                  <a:srgbClr val="8FB0D0"/>
                </a:solidFill>
                <a:latin typeface="Consolas"/>
              </a:rPr>
              <a:t>04</a:t>
            </a:r>
          </a:p>
        </p:txBody>
      </p:sp>
      <p:sp>
        <p:nvSpPr>
          <p:cNvPr id="18" name="TextBox 17"/>
          <p:cNvSpPr txBox="1"/>
          <p:nvPr/>
        </p:nvSpPr>
        <p:spPr>
          <a:xfrm>
            <a:off x="1426464" y="3694176"/>
            <a:ext cx="4023360" cy="365760"/>
          </a:xfrm>
          <a:prstGeom prst="rect">
            <a:avLst/>
          </a:prstGeom>
          <a:noFill/>
        </p:spPr>
        <p:txBody>
          <a:bodyPr wrap="square" lIns="0" rIns="0" tIns="0" bIns="0" anchor="t">
            <a:spAutoFit/>
          </a:bodyPr>
          <a:lstStyle/>
          <a:p>
            <a:pPr algn="l">
              <a:lnSpc>
                <a:spcPct val="95000"/>
              </a:lnSpc>
              <a:spcAft>
                <a:spcPts val="0"/>
              </a:spcAft>
            </a:pPr>
            <a:r>
              <a:rPr sz="1650" b="1">
                <a:solidFill>
                  <a:srgbClr val="0F1B2D"/>
                </a:solidFill>
                <a:latin typeface="Segoe UI"/>
              </a:rPr>
              <a:t>Sécurité</a:t>
            </a:r>
          </a:p>
        </p:txBody>
      </p:sp>
      <p:sp>
        <p:nvSpPr>
          <p:cNvPr id="19" name="TextBox 18"/>
          <p:cNvSpPr txBox="1"/>
          <p:nvPr/>
        </p:nvSpPr>
        <p:spPr>
          <a:xfrm>
            <a:off x="5559552" y="3712464"/>
            <a:ext cx="5943600" cy="365760"/>
          </a:xfrm>
          <a:prstGeom prst="rect">
            <a:avLst/>
          </a:prstGeom>
          <a:noFill/>
        </p:spPr>
        <p:txBody>
          <a:bodyPr wrap="square" lIns="0" rIns="0" tIns="0" bIns="0" anchor="t">
            <a:spAutoFit/>
          </a:bodyPr>
          <a:lstStyle/>
          <a:p>
            <a:pPr algn="l">
              <a:lnSpc>
                <a:spcPct val="95000"/>
              </a:lnSpc>
              <a:spcAft>
                <a:spcPts val="0"/>
              </a:spcAft>
            </a:pPr>
            <a:r>
              <a:rPr sz="1400" b="0">
                <a:solidFill>
                  <a:srgbClr val="64748B"/>
                </a:solidFill>
                <a:latin typeface="Segoe UI"/>
              </a:rPr>
              <a:t>Neuf rôles, un rôle toujours dérivé</a:t>
            </a:r>
          </a:p>
        </p:txBody>
      </p:sp>
      <p:sp>
        <p:nvSpPr>
          <p:cNvPr id="20" name="Rectangle 19"/>
          <p:cNvSpPr/>
          <p:nvPr/>
        </p:nvSpPr>
        <p:spPr>
          <a:xfrm>
            <a:off x="713232" y="4169664"/>
            <a:ext cx="10765231" cy="9525"/>
          </a:xfrm>
          <a:prstGeom prst="rect">
            <a:avLst/>
          </a:prstGeom>
          <a:solidFill>
            <a:srgbClr val="D8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4334256"/>
            <a:ext cx="548640" cy="365760"/>
          </a:xfrm>
          <a:prstGeom prst="rect">
            <a:avLst/>
          </a:prstGeom>
          <a:noFill/>
        </p:spPr>
        <p:txBody>
          <a:bodyPr wrap="square" lIns="0" rIns="0" tIns="0" bIns="0" anchor="t">
            <a:spAutoFit/>
          </a:bodyPr>
          <a:lstStyle/>
          <a:p>
            <a:pPr algn="l">
              <a:lnSpc>
                <a:spcPct val="95000"/>
              </a:lnSpc>
              <a:spcAft>
                <a:spcPts val="0"/>
              </a:spcAft>
            </a:pPr>
            <a:r>
              <a:rPr sz="1700" b="1">
                <a:solidFill>
                  <a:srgbClr val="8FB0D0"/>
                </a:solidFill>
                <a:latin typeface="Consolas"/>
              </a:rPr>
              <a:t>05</a:t>
            </a:r>
          </a:p>
        </p:txBody>
      </p:sp>
      <p:sp>
        <p:nvSpPr>
          <p:cNvPr id="22" name="TextBox 21"/>
          <p:cNvSpPr txBox="1"/>
          <p:nvPr/>
        </p:nvSpPr>
        <p:spPr>
          <a:xfrm>
            <a:off x="1426464" y="4315968"/>
            <a:ext cx="4023360" cy="365760"/>
          </a:xfrm>
          <a:prstGeom prst="rect">
            <a:avLst/>
          </a:prstGeom>
          <a:noFill/>
        </p:spPr>
        <p:txBody>
          <a:bodyPr wrap="square" lIns="0" rIns="0" tIns="0" bIns="0" anchor="t">
            <a:spAutoFit/>
          </a:bodyPr>
          <a:lstStyle/>
          <a:p>
            <a:pPr algn="l">
              <a:lnSpc>
                <a:spcPct val="95000"/>
              </a:lnSpc>
              <a:spcAft>
                <a:spcPts val="0"/>
              </a:spcAft>
            </a:pPr>
            <a:r>
              <a:rPr sz="1650" b="1">
                <a:solidFill>
                  <a:srgbClr val="0F1B2D"/>
                </a:solidFill>
                <a:latin typeface="Segoe UI"/>
              </a:rPr>
              <a:t>Démonstration</a:t>
            </a:r>
          </a:p>
        </p:txBody>
      </p:sp>
      <p:sp>
        <p:nvSpPr>
          <p:cNvPr id="23" name="TextBox 22"/>
          <p:cNvSpPr txBox="1"/>
          <p:nvPr/>
        </p:nvSpPr>
        <p:spPr>
          <a:xfrm>
            <a:off x="5559552" y="4334256"/>
            <a:ext cx="5943600" cy="365760"/>
          </a:xfrm>
          <a:prstGeom prst="rect">
            <a:avLst/>
          </a:prstGeom>
          <a:noFill/>
        </p:spPr>
        <p:txBody>
          <a:bodyPr wrap="square" lIns="0" rIns="0" tIns="0" bIns="0" anchor="t">
            <a:spAutoFit/>
          </a:bodyPr>
          <a:lstStyle/>
          <a:p>
            <a:pPr algn="l">
              <a:lnSpc>
                <a:spcPct val="95000"/>
              </a:lnSpc>
              <a:spcAft>
                <a:spcPts val="0"/>
              </a:spcAft>
            </a:pPr>
            <a:r>
              <a:rPr sz="1400" b="0">
                <a:solidFill>
                  <a:srgbClr val="64748B"/>
                </a:solidFill>
                <a:latin typeface="Segoe UI"/>
              </a:rPr>
              <a:t>Le système en fonctionnement</a:t>
            </a:r>
          </a:p>
        </p:txBody>
      </p:sp>
      <p:sp>
        <p:nvSpPr>
          <p:cNvPr id="24" name="Rectangle 23"/>
          <p:cNvSpPr/>
          <p:nvPr/>
        </p:nvSpPr>
        <p:spPr>
          <a:xfrm>
            <a:off x="713232" y="4791456"/>
            <a:ext cx="10765231" cy="9525"/>
          </a:xfrm>
          <a:prstGeom prst="rect">
            <a:avLst/>
          </a:prstGeom>
          <a:solidFill>
            <a:srgbClr val="D8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956048"/>
            <a:ext cx="548640" cy="365760"/>
          </a:xfrm>
          <a:prstGeom prst="rect">
            <a:avLst/>
          </a:prstGeom>
          <a:noFill/>
        </p:spPr>
        <p:txBody>
          <a:bodyPr wrap="square" lIns="0" rIns="0" tIns="0" bIns="0" anchor="t">
            <a:spAutoFit/>
          </a:bodyPr>
          <a:lstStyle/>
          <a:p>
            <a:pPr algn="l">
              <a:lnSpc>
                <a:spcPct val="95000"/>
              </a:lnSpc>
              <a:spcAft>
                <a:spcPts val="0"/>
              </a:spcAft>
            </a:pPr>
            <a:r>
              <a:rPr sz="1700" b="1">
                <a:solidFill>
                  <a:srgbClr val="8FB0D0"/>
                </a:solidFill>
                <a:latin typeface="Consolas"/>
              </a:rPr>
              <a:t>06</a:t>
            </a:r>
          </a:p>
        </p:txBody>
      </p:sp>
      <p:sp>
        <p:nvSpPr>
          <p:cNvPr id="26" name="TextBox 25"/>
          <p:cNvSpPr txBox="1"/>
          <p:nvPr/>
        </p:nvSpPr>
        <p:spPr>
          <a:xfrm>
            <a:off x="1426464" y="4937760"/>
            <a:ext cx="4023360" cy="365760"/>
          </a:xfrm>
          <a:prstGeom prst="rect">
            <a:avLst/>
          </a:prstGeom>
          <a:noFill/>
        </p:spPr>
        <p:txBody>
          <a:bodyPr wrap="square" lIns="0" rIns="0" tIns="0" bIns="0" anchor="t">
            <a:spAutoFit/>
          </a:bodyPr>
          <a:lstStyle/>
          <a:p>
            <a:pPr algn="l">
              <a:lnSpc>
                <a:spcPct val="95000"/>
              </a:lnSpc>
              <a:spcAft>
                <a:spcPts val="0"/>
              </a:spcAft>
            </a:pPr>
            <a:r>
              <a:rPr sz="1650" b="1">
                <a:solidFill>
                  <a:srgbClr val="0F1B2D"/>
                </a:solidFill>
                <a:latin typeface="Segoe UI"/>
              </a:rPr>
              <a:t>Validation</a:t>
            </a:r>
          </a:p>
        </p:txBody>
      </p:sp>
      <p:sp>
        <p:nvSpPr>
          <p:cNvPr id="27" name="TextBox 26"/>
          <p:cNvSpPr txBox="1"/>
          <p:nvPr/>
        </p:nvSpPr>
        <p:spPr>
          <a:xfrm>
            <a:off x="5559552" y="4956048"/>
            <a:ext cx="5943600" cy="365760"/>
          </a:xfrm>
          <a:prstGeom prst="rect">
            <a:avLst/>
          </a:prstGeom>
          <a:noFill/>
        </p:spPr>
        <p:txBody>
          <a:bodyPr wrap="square" lIns="0" rIns="0" tIns="0" bIns="0" anchor="t">
            <a:spAutoFit/>
          </a:bodyPr>
          <a:lstStyle/>
          <a:p>
            <a:pPr algn="l">
              <a:lnSpc>
                <a:spcPct val="95000"/>
              </a:lnSpc>
              <a:spcAft>
                <a:spcPts val="0"/>
              </a:spcAft>
            </a:pPr>
            <a:r>
              <a:rPr sz="1400" b="0">
                <a:solidFill>
                  <a:srgbClr val="64748B"/>
                </a:solidFill>
                <a:latin typeface="Segoe UI"/>
              </a:rPr>
              <a:t>55 tests, audit fonctionnel, défauts corrigés</a:t>
            </a:r>
          </a:p>
        </p:txBody>
      </p:sp>
      <p:sp>
        <p:nvSpPr>
          <p:cNvPr id="28" name="Rectangle 27"/>
          <p:cNvSpPr/>
          <p:nvPr/>
        </p:nvSpPr>
        <p:spPr>
          <a:xfrm>
            <a:off x="713232" y="5413248"/>
            <a:ext cx="10765231" cy="9525"/>
          </a:xfrm>
          <a:prstGeom prst="rect">
            <a:avLst/>
          </a:prstGeom>
          <a:solidFill>
            <a:srgbClr val="D8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5577840"/>
            <a:ext cx="548640" cy="365760"/>
          </a:xfrm>
          <a:prstGeom prst="rect">
            <a:avLst/>
          </a:prstGeom>
          <a:noFill/>
        </p:spPr>
        <p:txBody>
          <a:bodyPr wrap="square" lIns="0" rIns="0" tIns="0" bIns="0" anchor="t">
            <a:spAutoFit/>
          </a:bodyPr>
          <a:lstStyle/>
          <a:p>
            <a:pPr algn="l">
              <a:lnSpc>
                <a:spcPct val="95000"/>
              </a:lnSpc>
              <a:spcAft>
                <a:spcPts val="0"/>
              </a:spcAft>
            </a:pPr>
            <a:r>
              <a:rPr sz="1700" b="1">
                <a:solidFill>
                  <a:srgbClr val="8FB0D0"/>
                </a:solidFill>
                <a:latin typeface="Consolas"/>
              </a:rPr>
              <a:t>07</a:t>
            </a:r>
          </a:p>
        </p:txBody>
      </p:sp>
      <p:sp>
        <p:nvSpPr>
          <p:cNvPr id="30" name="TextBox 29"/>
          <p:cNvSpPr txBox="1"/>
          <p:nvPr/>
        </p:nvSpPr>
        <p:spPr>
          <a:xfrm>
            <a:off x="1426464" y="5559552"/>
            <a:ext cx="4023360" cy="365760"/>
          </a:xfrm>
          <a:prstGeom prst="rect">
            <a:avLst/>
          </a:prstGeom>
          <a:noFill/>
        </p:spPr>
        <p:txBody>
          <a:bodyPr wrap="square" lIns="0" rIns="0" tIns="0" bIns="0" anchor="t">
            <a:spAutoFit/>
          </a:bodyPr>
          <a:lstStyle/>
          <a:p>
            <a:pPr algn="l">
              <a:lnSpc>
                <a:spcPct val="95000"/>
              </a:lnSpc>
              <a:spcAft>
                <a:spcPts val="0"/>
              </a:spcAft>
            </a:pPr>
            <a:r>
              <a:rPr sz="1650" b="1">
                <a:solidFill>
                  <a:srgbClr val="0F1B2D"/>
                </a:solidFill>
                <a:latin typeface="Segoe UI"/>
              </a:rPr>
              <a:t>Résultats et limites</a:t>
            </a:r>
          </a:p>
        </p:txBody>
      </p:sp>
      <p:sp>
        <p:nvSpPr>
          <p:cNvPr id="31" name="TextBox 30"/>
          <p:cNvSpPr txBox="1"/>
          <p:nvPr/>
        </p:nvSpPr>
        <p:spPr>
          <a:xfrm>
            <a:off x="5559552" y="5577840"/>
            <a:ext cx="5943600" cy="365760"/>
          </a:xfrm>
          <a:prstGeom prst="rect">
            <a:avLst/>
          </a:prstGeom>
          <a:noFill/>
        </p:spPr>
        <p:txBody>
          <a:bodyPr wrap="square" lIns="0" rIns="0" tIns="0" bIns="0" anchor="t">
            <a:spAutoFit/>
          </a:bodyPr>
          <a:lstStyle/>
          <a:p>
            <a:pPr algn="l">
              <a:lnSpc>
                <a:spcPct val="95000"/>
              </a:lnSpc>
              <a:spcAft>
                <a:spcPts val="0"/>
              </a:spcAft>
            </a:pPr>
            <a:r>
              <a:rPr sz="1400" b="0">
                <a:solidFill>
                  <a:srgbClr val="64748B"/>
                </a:solidFill>
                <a:latin typeface="Segoe UI"/>
              </a:rPr>
              <a:t>Ce qui est livré, ce qui ne l'est pas</a:t>
            </a:r>
          </a:p>
        </p:txBody>
      </p:sp>
      <p:sp>
        <p:nvSpPr>
          <p:cNvPr id="32" name="TextBox 31"/>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33" name="TextBox 32"/>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01 — CONTEXTE</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Un laboratoire sans mémoire outillée</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883664"/>
            <a:ext cx="6035040" cy="365760"/>
          </a:xfrm>
          <a:prstGeom prst="rect">
            <a:avLst/>
          </a:prstGeom>
          <a:noFill/>
        </p:spPr>
        <p:txBody>
          <a:bodyPr wrap="square" lIns="0" rIns="0" tIns="0" bIns="0">
            <a:spAutoFit/>
          </a:bodyPr>
          <a:lstStyle/>
          <a:p>
            <a:pPr>
              <a:lnSpc>
                <a:spcPct val="122000"/>
              </a:lnSpc>
              <a:spcAft>
                <a:spcPts val="1700"/>
              </a:spcAft>
            </a:pPr>
            <a:r>
              <a:rPr sz="1550" b="1">
                <a:solidFill>
                  <a:srgbClr val="0F1B2D"/>
                </a:solidFill>
                <a:latin typeface="Segoe UI"/>
              </a:rPr>
              <a:t>Le constat. </a:t>
            </a:r>
            <a:r>
              <a:rPr sz="1550">
                <a:solidFill>
                  <a:srgbClr val="1F2A37"/>
                </a:solidFill>
                <a:latin typeface="Segoe UI"/>
              </a:rPr>
              <a:t>Membres, équipes, publications, matériel et conventions sont suivis dans des fichiers dispersés, sans source unique.</a:t>
            </a:r>
          </a:p>
          <a:p>
            <a:pPr>
              <a:lnSpc>
                <a:spcPct val="122000"/>
              </a:lnSpc>
              <a:spcAft>
                <a:spcPts val="1700"/>
              </a:spcAft>
            </a:pPr>
            <a:r>
              <a:rPr sz="1550" b="1">
                <a:solidFill>
                  <a:srgbClr val="0F1B2D"/>
                </a:solidFill>
                <a:latin typeface="Segoe UI"/>
              </a:rPr>
              <a:t>Le point critique. </a:t>
            </a:r>
            <a:r>
              <a:rPr sz="1550">
                <a:solidFill>
                  <a:srgbClr val="1F2A37"/>
                </a:solidFill>
                <a:latin typeface="Segoe UI"/>
              </a:rPr>
              <a:t>À chaque départ ou changement de responsabilité, l'information de gouvernance se perd : qui dirigeait, et pendant quelle période ?</a:t>
            </a:r>
          </a:p>
          <a:p>
            <a:pPr>
              <a:lnSpc>
                <a:spcPct val="122000"/>
              </a:lnSpc>
              <a:spcAft>
                <a:spcPts val="1700"/>
              </a:spcAft>
            </a:pPr>
            <a:r>
              <a:rPr sz="1550" b="1">
                <a:solidFill>
                  <a:srgbClr val="0F1B2D"/>
                </a:solidFill>
                <a:latin typeface="Segoe UI"/>
              </a:rPr>
              <a:t>L'exigence. </a:t>
            </a:r>
            <a:r>
              <a:rPr sz="1550">
                <a:solidFill>
                  <a:srgbClr val="1F2A37"/>
                </a:solidFill>
                <a:latin typeface="Segoe UI"/>
              </a:rPr>
              <a:t>Une application web unique où chaque changement laisse une trace datée, et où rien n'est jamais effacé.</a:t>
            </a:r>
          </a:p>
          <a:p>
            <a:pPr>
              <a:lnSpc>
                <a:spcPct val="122000"/>
              </a:lnSpc>
              <a:spcAft>
                <a:spcPts val="1700"/>
              </a:spcAft>
            </a:pPr>
            <a:r>
              <a:rPr sz="1550" b="1">
                <a:solidFill>
                  <a:srgbClr val="0F1B2D"/>
                </a:solidFill>
                <a:latin typeface="Segoe UI"/>
              </a:rPr>
              <a:t>Le cadre. </a:t>
            </a:r>
            <a:r>
              <a:rPr sz="1550">
                <a:solidFill>
                  <a:srgbClr val="1F2A37"/>
                </a:solidFill>
                <a:latin typeface="Segoe UI"/>
              </a:rPr>
              <a:t>Projet de fin de module Java Enterprise Edition, Master Data Science &amp; Big Data.</a:t>
            </a:r>
          </a:p>
        </p:txBody>
      </p:sp>
      <p:sp>
        <p:nvSpPr>
          <p:cNvPr id="6" name="Rectangle 5"/>
          <p:cNvSpPr/>
          <p:nvPr/>
        </p:nvSpPr>
        <p:spPr>
          <a:xfrm>
            <a:off x="7114032" y="1920240"/>
            <a:ext cx="2157984" cy="1481328"/>
          </a:xfrm>
          <a:prstGeom prst="rect">
            <a:avLst/>
          </a:prstGeom>
          <a:solidFill>
            <a:srgbClr val="F3F6FA"/>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14032" y="2121408"/>
            <a:ext cx="2157984" cy="640080"/>
          </a:xfrm>
          <a:prstGeom prst="rect">
            <a:avLst/>
          </a:prstGeom>
          <a:noFill/>
        </p:spPr>
        <p:txBody>
          <a:bodyPr wrap="square" lIns="0" rIns="0" tIns="0" bIns="0" anchor="t">
            <a:spAutoFit/>
          </a:bodyPr>
          <a:lstStyle/>
          <a:p>
            <a:pPr algn="ctr">
              <a:lnSpc>
                <a:spcPct val="95000"/>
              </a:lnSpc>
              <a:spcAft>
                <a:spcPts val="0"/>
              </a:spcAft>
            </a:pPr>
            <a:r>
              <a:rPr sz="3800" b="1">
                <a:solidFill>
                  <a:srgbClr val="3B6EA5"/>
                </a:solidFill>
                <a:latin typeface="Segoe UI"/>
              </a:rPr>
              <a:t>21</a:t>
            </a:r>
          </a:p>
        </p:txBody>
      </p:sp>
      <p:sp>
        <p:nvSpPr>
          <p:cNvPr id="8" name="TextBox 7"/>
          <p:cNvSpPr txBox="1"/>
          <p:nvPr/>
        </p:nvSpPr>
        <p:spPr>
          <a:xfrm>
            <a:off x="7114032" y="2761488"/>
            <a:ext cx="2157984" cy="548640"/>
          </a:xfrm>
          <a:prstGeom prst="rect">
            <a:avLst/>
          </a:prstGeom>
          <a:noFill/>
        </p:spPr>
        <p:txBody>
          <a:bodyPr wrap="square" lIns="0" rIns="0" tIns="0" bIns="0" anchor="t">
            <a:spAutoFit/>
          </a:bodyPr>
          <a:lstStyle/>
          <a:p>
            <a:pPr algn="ctr">
              <a:lnSpc>
                <a:spcPct val="115000"/>
              </a:lnSpc>
              <a:spcAft>
                <a:spcPts val="0"/>
              </a:spcAft>
            </a:pPr>
            <a:r>
              <a:rPr sz="1150" b="0">
                <a:solidFill>
                  <a:srgbClr val="64748B"/>
                </a:solidFill>
                <a:latin typeface="Segoe UI"/>
              </a:rPr>
              <a:t>sections du
cahier des charges</a:t>
            </a:r>
          </a:p>
        </p:txBody>
      </p:sp>
      <p:sp>
        <p:nvSpPr>
          <p:cNvPr id="9" name="Rectangle 8"/>
          <p:cNvSpPr/>
          <p:nvPr/>
        </p:nvSpPr>
        <p:spPr>
          <a:xfrm>
            <a:off x="9454896" y="1920240"/>
            <a:ext cx="2157984" cy="1481328"/>
          </a:xfrm>
          <a:prstGeom prst="rect">
            <a:avLst/>
          </a:prstGeom>
          <a:solidFill>
            <a:srgbClr val="F3F6FA"/>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54896" y="2121408"/>
            <a:ext cx="2157984" cy="640080"/>
          </a:xfrm>
          <a:prstGeom prst="rect">
            <a:avLst/>
          </a:prstGeom>
          <a:noFill/>
        </p:spPr>
        <p:txBody>
          <a:bodyPr wrap="square" lIns="0" rIns="0" tIns="0" bIns="0" anchor="t">
            <a:spAutoFit/>
          </a:bodyPr>
          <a:lstStyle/>
          <a:p>
            <a:pPr algn="ctr">
              <a:lnSpc>
                <a:spcPct val="95000"/>
              </a:lnSpc>
              <a:spcAft>
                <a:spcPts val="0"/>
              </a:spcAft>
            </a:pPr>
            <a:r>
              <a:rPr sz="3800" b="1">
                <a:solidFill>
                  <a:srgbClr val="3B6EA5"/>
                </a:solidFill>
                <a:latin typeface="Segoe UI"/>
              </a:rPr>
              <a:t>18</a:t>
            </a:r>
          </a:p>
        </p:txBody>
      </p:sp>
      <p:sp>
        <p:nvSpPr>
          <p:cNvPr id="11" name="TextBox 10"/>
          <p:cNvSpPr txBox="1"/>
          <p:nvPr/>
        </p:nvSpPr>
        <p:spPr>
          <a:xfrm>
            <a:off x="9454896" y="2761488"/>
            <a:ext cx="2157984" cy="548640"/>
          </a:xfrm>
          <a:prstGeom prst="rect">
            <a:avLst/>
          </a:prstGeom>
          <a:noFill/>
        </p:spPr>
        <p:txBody>
          <a:bodyPr wrap="square" lIns="0" rIns="0" tIns="0" bIns="0" anchor="t">
            <a:spAutoFit/>
          </a:bodyPr>
          <a:lstStyle/>
          <a:p>
            <a:pPr algn="ctr">
              <a:lnSpc>
                <a:spcPct val="115000"/>
              </a:lnSpc>
              <a:spcAft>
                <a:spcPts val="0"/>
              </a:spcAft>
            </a:pPr>
            <a:r>
              <a:rPr sz="1150" b="0">
                <a:solidFill>
                  <a:srgbClr val="64748B"/>
                </a:solidFill>
                <a:latin typeface="Segoe UI"/>
              </a:rPr>
              <a:t>modules
fonctionnels</a:t>
            </a:r>
          </a:p>
        </p:txBody>
      </p:sp>
      <p:sp>
        <p:nvSpPr>
          <p:cNvPr id="12" name="Rectangle 11"/>
          <p:cNvSpPr/>
          <p:nvPr/>
        </p:nvSpPr>
        <p:spPr>
          <a:xfrm>
            <a:off x="7114032" y="3602736"/>
            <a:ext cx="2157984" cy="1481328"/>
          </a:xfrm>
          <a:prstGeom prst="rect">
            <a:avLst/>
          </a:prstGeom>
          <a:solidFill>
            <a:srgbClr val="F3F6FA"/>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14032" y="3803904"/>
            <a:ext cx="2157984" cy="640080"/>
          </a:xfrm>
          <a:prstGeom prst="rect">
            <a:avLst/>
          </a:prstGeom>
          <a:noFill/>
        </p:spPr>
        <p:txBody>
          <a:bodyPr wrap="square" lIns="0" rIns="0" tIns="0" bIns="0" anchor="t">
            <a:spAutoFit/>
          </a:bodyPr>
          <a:lstStyle/>
          <a:p>
            <a:pPr algn="ctr">
              <a:lnSpc>
                <a:spcPct val="95000"/>
              </a:lnSpc>
              <a:spcAft>
                <a:spcPts val="0"/>
              </a:spcAft>
            </a:pPr>
            <a:r>
              <a:rPr sz="3800" b="1">
                <a:solidFill>
                  <a:srgbClr val="3B6EA5"/>
                </a:solidFill>
                <a:latin typeface="Segoe UI"/>
              </a:rPr>
              <a:t>9</a:t>
            </a:r>
          </a:p>
        </p:txBody>
      </p:sp>
      <p:sp>
        <p:nvSpPr>
          <p:cNvPr id="14" name="TextBox 13"/>
          <p:cNvSpPr txBox="1"/>
          <p:nvPr/>
        </p:nvSpPr>
        <p:spPr>
          <a:xfrm>
            <a:off x="7114032" y="4443984"/>
            <a:ext cx="2157984" cy="548640"/>
          </a:xfrm>
          <a:prstGeom prst="rect">
            <a:avLst/>
          </a:prstGeom>
          <a:noFill/>
        </p:spPr>
        <p:txBody>
          <a:bodyPr wrap="square" lIns="0" rIns="0" tIns="0" bIns="0" anchor="t">
            <a:spAutoFit/>
          </a:bodyPr>
          <a:lstStyle/>
          <a:p>
            <a:pPr algn="ctr">
              <a:lnSpc>
                <a:spcPct val="115000"/>
              </a:lnSpc>
              <a:spcAft>
                <a:spcPts val="0"/>
              </a:spcAft>
            </a:pPr>
            <a:r>
              <a:rPr sz="1150" b="0">
                <a:solidFill>
                  <a:srgbClr val="64748B"/>
                </a:solidFill>
                <a:latin typeface="Segoe UI"/>
              </a:rPr>
              <a:t>rôles
applicatifs</a:t>
            </a:r>
          </a:p>
        </p:txBody>
      </p:sp>
      <p:sp>
        <p:nvSpPr>
          <p:cNvPr id="15" name="Rectangle 14"/>
          <p:cNvSpPr/>
          <p:nvPr/>
        </p:nvSpPr>
        <p:spPr>
          <a:xfrm>
            <a:off x="9454896" y="3602736"/>
            <a:ext cx="2157984" cy="1481328"/>
          </a:xfrm>
          <a:prstGeom prst="rect">
            <a:avLst/>
          </a:prstGeom>
          <a:solidFill>
            <a:srgbClr val="F3F6FA"/>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54896" y="3803904"/>
            <a:ext cx="2157984" cy="640080"/>
          </a:xfrm>
          <a:prstGeom prst="rect">
            <a:avLst/>
          </a:prstGeom>
          <a:noFill/>
        </p:spPr>
        <p:txBody>
          <a:bodyPr wrap="square" lIns="0" rIns="0" tIns="0" bIns="0" anchor="t">
            <a:spAutoFit/>
          </a:bodyPr>
          <a:lstStyle/>
          <a:p>
            <a:pPr algn="ctr">
              <a:lnSpc>
                <a:spcPct val="95000"/>
              </a:lnSpc>
              <a:spcAft>
                <a:spcPts val="0"/>
              </a:spcAft>
            </a:pPr>
            <a:r>
              <a:rPr sz="3800" b="1">
                <a:solidFill>
                  <a:srgbClr val="3B6EA5"/>
                </a:solidFill>
                <a:latin typeface="Segoe UI"/>
              </a:rPr>
              <a:t>5</a:t>
            </a:r>
          </a:p>
        </p:txBody>
      </p:sp>
      <p:sp>
        <p:nvSpPr>
          <p:cNvPr id="17" name="TextBox 16"/>
          <p:cNvSpPr txBox="1"/>
          <p:nvPr/>
        </p:nvSpPr>
        <p:spPr>
          <a:xfrm>
            <a:off x="9454896" y="4443984"/>
            <a:ext cx="2157984" cy="548640"/>
          </a:xfrm>
          <a:prstGeom prst="rect">
            <a:avLst/>
          </a:prstGeom>
          <a:noFill/>
        </p:spPr>
        <p:txBody>
          <a:bodyPr wrap="square" lIns="0" rIns="0" tIns="0" bIns="0" anchor="t">
            <a:spAutoFit/>
          </a:bodyPr>
          <a:lstStyle/>
          <a:p>
            <a:pPr algn="ctr">
              <a:lnSpc>
                <a:spcPct val="115000"/>
              </a:lnSpc>
              <a:spcAft>
                <a:spcPts val="0"/>
              </a:spcAft>
            </a:pPr>
            <a:r>
              <a:rPr sz="1150" b="0">
                <a:solidFill>
                  <a:srgbClr val="64748B"/>
                </a:solidFill>
                <a:latin typeface="Segoe UI"/>
              </a:rPr>
              <a:t>statuts
de membre</a:t>
            </a:r>
          </a:p>
        </p:txBody>
      </p:sp>
      <p:sp>
        <p:nvSpPr>
          <p:cNvPr id="18" name="TextBox 17"/>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19" name="TextBox 18"/>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02 — RÈGLE STRUCTURANTE</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Statut ≠ Rôle ≠ Mandat</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828800"/>
            <a:ext cx="10765231" cy="365760"/>
          </a:xfrm>
          <a:prstGeom prst="rect">
            <a:avLst/>
          </a:prstGeom>
          <a:noFill/>
        </p:spPr>
        <p:txBody>
          <a:bodyPr wrap="square" lIns="0" rIns="0" tIns="0" bIns="0" anchor="t">
            <a:spAutoFit/>
          </a:bodyPr>
          <a:lstStyle/>
          <a:p>
            <a:pPr algn="l">
              <a:lnSpc>
                <a:spcPct val="95000"/>
              </a:lnSpc>
              <a:spcAft>
                <a:spcPts val="0"/>
              </a:spcAft>
            </a:pPr>
            <a:r>
              <a:rPr sz="1500" b="0">
                <a:solidFill>
                  <a:srgbClr val="64748B"/>
                </a:solidFill>
                <a:latin typeface="Segoe UI"/>
              </a:rPr>
              <a:t>La confusion de ces trois notions est l'erreur de conception que le projet devait éviter.</a:t>
            </a:r>
          </a:p>
        </p:txBody>
      </p:sp>
      <p:sp>
        <p:nvSpPr>
          <p:cNvPr id="6" name="Rectangle 5"/>
          <p:cNvSpPr/>
          <p:nvPr/>
        </p:nvSpPr>
        <p:spPr>
          <a:xfrm>
            <a:off x="713232" y="2395728"/>
            <a:ext cx="3493008" cy="2487168"/>
          </a:xfrm>
          <a:prstGeom prst="rect">
            <a:avLst/>
          </a:prstGeom>
          <a:solidFill>
            <a:srgbClr val="F3F6FA"/>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2395728"/>
            <a:ext cx="3493008"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670048"/>
            <a:ext cx="3035808" cy="365760"/>
          </a:xfrm>
          <a:prstGeom prst="rect">
            <a:avLst/>
          </a:prstGeom>
          <a:noFill/>
        </p:spPr>
        <p:txBody>
          <a:bodyPr wrap="square" lIns="0" rIns="0" tIns="0" bIns="0" anchor="t">
            <a:spAutoFit/>
          </a:bodyPr>
          <a:lstStyle/>
          <a:p>
            <a:pPr algn="l">
              <a:lnSpc>
                <a:spcPct val="95000"/>
              </a:lnSpc>
              <a:spcAft>
                <a:spcPts val="0"/>
              </a:spcAft>
            </a:pPr>
            <a:r>
              <a:rPr sz="1900" b="1">
                <a:solidFill>
                  <a:srgbClr val="0F1B2D"/>
                </a:solidFill>
                <a:latin typeface="Segoe UI"/>
              </a:rPr>
              <a:t>STATUT</a:t>
            </a:r>
          </a:p>
        </p:txBody>
      </p:sp>
      <p:sp>
        <p:nvSpPr>
          <p:cNvPr id="9" name="TextBox 8"/>
          <p:cNvSpPr txBox="1"/>
          <p:nvPr/>
        </p:nvSpPr>
        <p:spPr>
          <a:xfrm>
            <a:off x="969264" y="3017520"/>
            <a:ext cx="3035808" cy="274320"/>
          </a:xfrm>
          <a:prstGeom prst="rect">
            <a:avLst/>
          </a:prstGeom>
          <a:noFill/>
        </p:spPr>
        <p:txBody>
          <a:bodyPr wrap="square" lIns="0" rIns="0" tIns="0" bIns="0" anchor="t">
            <a:spAutoFit/>
          </a:bodyPr>
          <a:lstStyle/>
          <a:p>
            <a:pPr algn="l">
              <a:lnSpc>
                <a:spcPct val="95000"/>
              </a:lnSpc>
              <a:spcAft>
                <a:spcPts val="0"/>
              </a:spcAft>
            </a:pPr>
            <a:r>
              <a:rPr sz="1200" b="1">
                <a:solidFill>
                  <a:srgbClr val="3B6EA5"/>
                </a:solidFill>
                <a:latin typeface="Segoe UI"/>
              </a:rPr>
              <a:t>Catégorie d'appartenance</a:t>
            </a:r>
          </a:p>
        </p:txBody>
      </p:sp>
      <p:sp>
        <p:nvSpPr>
          <p:cNvPr id="10" name="TextBox 9"/>
          <p:cNvSpPr txBox="1"/>
          <p:nvPr/>
        </p:nvSpPr>
        <p:spPr>
          <a:xfrm>
            <a:off x="969264" y="3383280"/>
            <a:ext cx="3035808" cy="685800"/>
          </a:xfrm>
          <a:prstGeom prst="rect">
            <a:avLst/>
          </a:prstGeom>
          <a:noFill/>
        </p:spPr>
        <p:txBody>
          <a:bodyPr wrap="square" lIns="0" rIns="0" tIns="0" bIns="0" anchor="t">
            <a:spAutoFit/>
          </a:bodyPr>
          <a:lstStyle/>
          <a:p>
            <a:pPr algn="l">
              <a:lnSpc>
                <a:spcPct val="120000"/>
              </a:lnSpc>
              <a:spcAft>
                <a:spcPts val="0"/>
              </a:spcAft>
            </a:pPr>
            <a:r>
              <a:rPr sz="1300" b="0">
                <a:solidFill>
                  <a:srgbClr val="1F2A37"/>
                </a:solidFill>
                <a:latin typeface="Segoe UI"/>
              </a:rPr>
              <a:t>Permanent, Associé, Doctorant,
Retraité, Ancien membre</a:t>
            </a:r>
          </a:p>
        </p:txBody>
      </p:sp>
      <p:sp>
        <p:nvSpPr>
          <p:cNvPr id="11" name="TextBox 10"/>
          <p:cNvSpPr txBox="1"/>
          <p:nvPr/>
        </p:nvSpPr>
        <p:spPr>
          <a:xfrm>
            <a:off x="969264" y="4178808"/>
            <a:ext cx="3035808" cy="594360"/>
          </a:xfrm>
          <a:prstGeom prst="rect">
            <a:avLst/>
          </a:prstGeom>
          <a:noFill/>
        </p:spPr>
        <p:txBody>
          <a:bodyPr wrap="square" lIns="0" rIns="0" tIns="0" bIns="0" anchor="t">
            <a:spAutoFit/>
          </a:bodyPr>
          <a:lstStyle/>
          <a:p>
            <a:pPr algn="l">
              <a:lnSpc>
                <a:spcPct val="120000"/>
              </a:lnSpc>
              <a:spcAft>
                <a:spcPts val="0"/>
              </a:spcAft>
            </a:pPr>
            <a:r>
              <a:rPr sz="1200" b="0">
                <a:solidFill>
                  <a:srgbClr val="64748B"/>
                </a:solidFill>
                <a:latin typeface="Segoe UI"/>
              </a:rPr>
              <a:t>Change lentement.
Historisé avec date d'effet.</a:t>
            </a:r>
          </a:p>
        </p:txBody>
      </p:sp>
      <p:sp>
        <p:nvSpPr>
          <p:cNvPr id="12" name="Rectangle 11"/>
          <p:cNvSpPr/>
          <p:nvPr/>
        </p:nvSpPr>
        <p:spPr>
          <a:xfrm>
            <a:off x="4407408" y="2395728"/>
            <a:ext cx="3493008" cy="2487168"/>
          </a:xfrm>
          <a:prstGeom prst="rect">
            <a:avLst/>
          </a:prstGeom>
          <a:solidFill>
            <a:srgbClr val="F3F6FA"/>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2395728"/>
            <a:ext cx="3493008"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2670048"/>
            <a:ext cx="3035808" cy="365760"/>
          </a:xfrm>
          <a:prstGeom prst="rect">
            <a:avLst/>
          </a:prstGeom>
          <a:noFill/>
        </p:spPr>
        <p:txBody>
          <a:bodyPr wrap="square" lIns="0" rIns="0" tIns="0" bIns="0" anchor="t">
            <a:spAutoFit/>
          </a:bodyPr>
          <a:lstStyle/>
          <a:p>
            <a:pPr algn="l">
              <a:lnSpc>
                <a:spcPct val="95000"/>
              </a:lnSpc>
              <a:spcAft>
                <a:spcPts val="0"/>
              </a:spcAft>
            </a:pPr>
            <a:r>
              <a:rPr sz="1900" b="1">
                <a:solidFill>
                  <a:srgbClr val="0F1B2D"/>
                </a:solidFill>
                <a:latin typeface="Segoe UI"/>
              </a:rPr>
              <a:t>MANDAT</a:t>
            </a:r>
          </a:p>
        </p:txBody>
      </p:sp>
      <p:sp>
        <p:nvSpPr>
          <p:cNvPr id="15" name="TextBox 14"/>
          <p:cNvSpPr txBox="1"/>
          <p:nvPr/>
        </p:nvSpPr>
        <p:spPr>
          <a:xfrm>
            <a:off x="4663440" y="3017520"/>
            <a:ext cx="3035808" cy="274320"/>
          </a:xfrm>
          <a:prstGeom prst="rect">
            <a:avLst/>
          </a:prstGeom>
          <a:noFill/>
        </p:spPr>
        <p:txBody>
          <a:bodyPr wrap="square" lIns="0" rIns="0" tIns="0" bIns="0" anchor="t">
            <a:spAutoFit/>
          </a:bodyPr>
          <a:lstStyle/>
          <a:p>
            <a:pPr algn="l">
              <a:lnSpc>
                <a:spcPct val="95000"/>
              </a:lnSpc>
              <a:spcAft>
                <a:spcPts val="0"/>
              </a:spcAft>
            </a:pPr>
            <a:r>
              <a:rPr sz="1200" b="1">
                <a:solidFill>
                  <a:srgbClr val="3B6EA5"/>
                </a:solidFill>
                <a:latin typeface="Segoe UI"/>
              </a:rPr>
              <a:t>Responsabilité de gouvernance</a:t>
            </a:r>
          </a:p>
        </p:txBody>
      </p:sp>
      <p:sp>
        <p:nvSpPr>
          <p:cNvPr id="16" name="TextBox 15"/>
          <p:cNvSpPr txBox="1"/>
          <p:nvPr/>
        </p:nvSpPr>
        <p:spPr>
          <a:xfrm>
            <a:off x="4663440" y="3383280"/>
            <a:ext cx="3035808" cy="685800"/>
          </a:xfrm>
          <a:prstGeom prst="rect">
            <a:avLst/>
          </a:prstGeom>
          <a:noFill/>
        </p:spPr>
        <p:txBody>
          <a:bodyPr wrap="square" lIns="0" rIns="0" tIns="0" bIns="0" anchor="t">
            <a:spAutoFit/>
          </a:bodyPr>
          <a:lstStyle/>
          <a:p>
            <a:pPr algn="l">
              <a:lnSpc>
                <a:spcPct val="120000"/>
              </a:lnSpc>
              <a:spcAft>
                <a:spcPts val="0"/>
              </a:spcAft>
            </a:pPr>
            <a:r>
              <a:rPr sz="1300" b="0">
                <a:solidFill>
                  <a:srgbClr val="1F2A37"/>
                </a:solidFill>
                <a:latin typeface="Segoe UI"/>
              </a:rPr>
              <a:t>Directeur, Vice-directeur,
Chef d'équipe</a:t>
            </a:r>
          </a:p>
        </p:txBody>
      </p:sp>
      <p:sp>
        <p:nvSpPr>
          <p:cNvPr id="17" name="TextBox 16"/>
          <p:cNvSpPr txBox="1"/>
          <p:nvPr/>
        </p:nvSpPr>
        <p:spPr>
          <a:xfrm>
            <a:off x="4663440" y="4178808"/>
            <a:ext cx="3035808" cy="594360"/>
          </a:xfrm>
          <a:prstGeom prst="rect">
            <a:avLst/>
          </a:prstGeom>
          <a:noFill/>
        </p:spPr>
        <p:txBody>
          <a:bodyPr wrap="square" lIns="0" rIns="0" tIns="0" bIns="0" anchor="t">
            <a:spAutoFit/>
          </a:bodyPr>
          <a:lstStyle/>
          <a:p>
            <a:pPr algn="l">
              <a:lnSpc>
                <a:spcPct val="120000"/>
              </a:lnSpc>
              <a:spcAft>
                <a:spcPts val="0"/>
              </a:spcAft>
            </a:pPr>
            <a:r>
              <a:rPr sz="1200" b="0">
                <a:solidFill>
                  <a:srgbClr val="64748B"/>
                </a:solidFill>
                <a:latin typeface="Segoe UI"/>
              </a:rPr>
              <a:t>Daté : début et fin.
Une clôture ne supprime rien.</a:t>
            </a:r>
          </a:p>
        </p:txBody>
      </p:sp>
      <p:sp>
        <p:nvSpPr>
          <p:cNvPr id="18" name="Rectangle 17"/>
          <p:cNvSpPr/>
          <p:nvPr/>
        </p:nvSpPr>
        <p:spPr>
          <a:xfrm>
            <a:off x="8101584" y="2395728"/>
            <a:ext cx="3493008" cy="2487168"/>
          </a:xfrm>
          <a:prstGeom prst="rect">
            <a:avLst/>
          </a:prstGeom>
          <a:solidFill>
            <a:srgbClr val="F3F6FA"/>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1584" y="2395728"/>
            <a:ext cx="3493008" cy="4064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7616" y="2670048"/>
            <a:ext cx="3035808" cy="365760"/>
          </a:xfrm>
          <a:prstGeom prst="rect">
            <a:avLst/>
          </a:prstGeom>
          <a:noFill/>
        </p:spPr>
        <p:txBody>
          <a:bodyPr wrap="square" lIns="0" rIns="0" tIns="0" bIns="0" anchor="t">
            <a:spAutoFit/>
          </a:bodyPr>
          <a:lstStyle/>
          <a:p>
            <a:pPr algn="l">
              <a:lnSpc>
                <a:spcPct val="95000"/>
              </a:lnSpc>
              <a:spcAft>
                <a:spcPts val="0"/>
              </a:spcAft>
            </a:pPr>
            <a:r>
              <a:rPr sz="1900" b="1">
                <a:solidFill>
                  <a:srgbClr val="0F1B2D"/>
                </a:solidFill>
                <a:latin typeface="Segoe UI"/>
              </a:rPr>
              <a:t>RÔLE</a:t>
            </a:r>
          </a:p>
        </p:txBody>
      </p:sp>
      <p:sp>
        <p:nvSpPr>
          <p:cNvPr id="21" name="TextBox 20"/>
          <p:cNvSpPr txBox="1"/>
          <p:nvPr/>
        </p:nvSpPr>
        <p:spPr>
          <a:xfrm>
            <a:off x="8357616" y="3017520"/>
            <a:ext cx="3035808" cy="274320"/>
          </a:xfrm>
          <a:prstGeom prst="rect">
            <a:avLst/>
          </a:prstGeom>
          <a:noFill/>
        </p:spPr>
        <p:txBody>
          <a:bodyPr wrap="square" lIns="0" rIns="0" tIns="0" bIns="0" anchor="t">
            <a:spAutoFit/>
          </a:bodyPr>
          <a:lstStyle/>
          <a:p>
            <a:pPr algn="l">
              <a:lnSpc>
                <a:spcPct val="95000"/>
              </a:lnSpc>
              <a:spcAft>
                <a:spcPts val="0"/>
              </a:spcAft>
            </a:pPr>
            <a:r>
              <a:rPr sz="1200" b="1">
                <a:solidFill>
                  <a:srgbClr val="3B6EA5"/>
                </a:solidFill>
                <a:latin typeface="Segoe UI"/>
              </a:rPr>
              <a:t>Permissions applicatives</a:t>
            </a:r>
          </a:p>
        </p:txBody>
      </p:sp>
      <p:sp>
        <p:nvSpPr>
          <p:cNvPr id="22" name="TextBox 21"/>
          <p:cNvSpPr txBox="1"/>
          <p:nvPr/>
        </p:nvSpPr>
        <p:spPr>
          <a:xfrm>
            <a:off x="8357616" y="3383280"/>
            <a:ext cx="3035808" cy="685800"/>
          </a:xfrm>
          <a:prstGeom prst="rect">
            <a:avLst/>
          </a:prstGeom>
          <a:noFill/>
        </p:spPr>
        <p:txBody>
          <a:bodyPr wrap="square" lIns="0" rIns="0" tIns="0" bIns="0" anchor="t">
            <a:spAutoFit/>
          </a:bodyPr>
          <a:lstStyle/>
          <a:p>
            <a:pPr algn="l">
              <a:lnSpc>
                <a:spcPct val="120000"/>
              </a:lnSpc>
              <a:spcAft>
                <a:spcPts val="0"/>
              </a:spcAft>
            </a:pPr>
            <a:r>
              <a:rPr sz="1300" b="0">
                <a:solidFill>
                  <a:srgbClr val="1F2A37"/>
                </a:solidFill>
                <a:latin typeface="Segoe UI"/>
              </a:rPr>
              <a:t>9 rôles lus par
Spring Security</a:t>
            </a:r>
          </a:p>
        </p:txBody>
      </p:sp>
      <p:sp>
        <p:nvSpPr>
          <p:cNvPr id="23" name="TextBox 22"/>
          <p:cNvSpPr txBox="1"/>
          <p:nvPr/>
        </p:nvSpPr>
        <p:spPr>
          <a:xfrm>
            <a:off x="8357616" y="4178808"/>
            <a:ext cx="3035808" cy="594360"/>
          </a:xfrm>
          <a:prstGeom prst="rect">
            <a:avLst/>
          </a:prstGeom>
          <a:noFill/>
        </p:spPr>
        <p:txBody>
          <a:bodyPr wrap="square" lIns="0" rIns="0" tIns="0" bIns="0" anchor="t">
            <a:spAutoFit/>
          </a:bodyPr>
          <a:lstStyle/>
          <a:p>
            <a:pPr algn="l">
              <a:lnSpc>
                <a:spcPct val="120000"/>
              </a:lnSpc>
              <a:spcAft>
                <a:spcPts val="0"/>
              </a:spcAft>
            </a:pPr>
            <a:r>
              <a:rPr sz="1200" b="0">
                <a:solidFill>
                  <a:srgbClr val="64748B"/>
                </a:solidFill>
                <a:latin typeface="Segoe UI"/>
              </a:rPr>
              <a:t>Jamais saisi à la main.
Toujours dérivé des deux autres.</a:t>
            </a:r>
          </a:p>
        </p:txBody>
      </p:sp>
      <p:sp>
        <p:nvSpPr>
          <p:cNvPr id="24" name="Rectangle 23"/>
          <p:cNvSpPr/>
          <p:nvPr/>
        </p:nvSpPr>
        <p:spPr>
          <a:xfrm>
            <a:off x="713232" y="5138928"/>
            <a:ext cx="10765231" cy="96926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5321808"/>
            <a:ext cx="2286000" cy="274320"/>
          </a:xfrm>
          <a:prstGeom prst="rect">
            <a:avLst/>
          </a:prstGeom>
          <a:noFill/>
        </p:spPr>
        <p:txBody>
          <a:bodyPr wrap="square" lIns="0" rIns="0" tIns="0" bIns="0" anchor="t">
            <a:spAutoFit/>
          </a:bodyPr>
          <a:lstStyle/>
          <a:p>
            <a:pPr algn="l">
              <a:lnSpc>
                <a:spcPct val="95000"/>
              </a:lnSpc>
              <a:spcAft>
                <a:spcPts val="0"/>
              </a:spcAft>
            </a:pPr>
            <a:r>
              <a:rPr sz="1100" b="1">
                <a:solidFill>
                  <a:srgbClr val="8FB0D0"/>
                </a:solidFill>
                <a:latin typeface="Segoe UI"/>
              </a:rPr>
              <a:t>RÈGLE DE DÉRIVATION</a:t>
            </a:r>
          </a:p>
        </p:txBody>
      </p:sp>
      <p:sp>
        <p:nvSpPr>
          <p:cNvPr id="26" name="TextBox 25"/>
          <p:cNvSpPr txBox="1"/>
          <p:nvPr/>
        </p:nvSpPr>
        <p:spPr>
          <a:xfrm>
            <a:off x="1024128" y="5596128"/>
            <a:ext cx="10125151" cy="365760"/>
          </a:xfrm>
          <a:prstGeom prst="rect">
            <a:avLst/>
          </a:prstGeom>
          <a:noFill/>
        </p:spPr>
        <p:txBody>
          <a:bodyPr wrap="square" lIns="0" rIns="0" tIns="0" bIns="0" anchor="t">
            <a:spAutoFit/>
          </a:bodyPr>
          <a:lstStyle/>
          <a:p>
            <a:pPr algn="l">
              <a:lnSpc>
                <a:spcPct val="95000"/>
              </a:lnSpc>
              <a:spcAft>
                <a:spcPts val="0"/>
              </a:spcAft>
            </a:pPr>
            <a:r>
              <a:rPr sz="1550" b="0">
                <a:solidFill>
                  <a:srgbClr val="FFFFFF"/>
                </a:solidFill>
                <a:latin typeface="Consolas"/>
              </a:rPr>
              <a:t>Statut gelé (Retraité / Ancien)   &gt;   mandat actif le plus élevé   &gt;   rôle dérivé du statut</a:t>
            </a:r>
          </a:p>
        </p:txBody>
      </p:sp>
      <p:sp>
        <p:nvSpPr>
          <p:cNvPr id="27" name="TextBox 26"/>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28" name="TextBox 27"/>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03 — ARCHITECTURE</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Une architecture trois tiers</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883664"/>
            <a:ext cx="4480560" cy="365760"/>
          </a:xfrm>
          <a:prstGeom prst="rect">
            <a:avLst/>
          </a:prstGeom>
          <a:noFill/>
        </p:spPr>
        <p:txBody>
          <a:bodyPr wrap="square" lIns="0" rIns="0" tIns="0" bIns="0">
            <a:spAutoFit/>
          </a:bodyPr>
          <a:lstStyle/>
          <a:p>
            <a:pPr>
              <a:lnSpc>
                <a:spcPct val="122000"/>
              </a:lnSpc>
              <a:spcAft>
                <a:spcPts val="1500"/>
              </a:spcAft>
            </a:pPr>
            <a:r>
              <a:rPr sz="1450" b="1">
                <a:solidFill>
                  <a:srgbClr val="0F1B2D"/>
                </a:solidFill>
                <a:latin typeface="Segoe UI"/>
              </a:rPr>
              <a:t>Présentation. </a:t>
            </a:r>
            <a:r>
              <a:rPr sz="1450">
                <a:solidFill>
                  <a:srgbClr val="1F2A37"/>
                </a:solidFill>
                <a:latin typeface="Segoe UI"/>
              </a:rPr>
              <a:t>Client React 18 (Vite), 21 pages, 19 services d'appel API. Aucune logique métier côté navigateur.</a:t>
            </a:r>
          </a:p>
          <a:p>
            <a:pPr>
              <a:lnSpc>
                <a:spcPct val="122000"/>
              </a:lnSpc>
              <a:spcAft>
                <a:spcPts val="1500"/>
              </a:spcAft>
            </a:pPr>
            <a:r>
              <a:rPr sz="1450" b="1">
                <a:solidFill>
                  <a:srgbClr val="0F1B2D"/>
                </a:solidFill>
                <a:latin typeface="Segoe UI"/>
              </a:rPr>
              <a:t>Application. </a:t>
            </a:r>
            <a:r>
              <a:rPr sz="1450">
                <a:solidFill>
                  <a:srgbClr val="1F2A37"/>
                </a:solidFill>
                <a:latin typeface="Segoe UI"/>
              </a:rPr>
              <a:t>API REST Spring Boot 3.3.4 : 22 contrôleurs, 28 services, la totalité des règles métier et des autorisations.</a:t>
            </a:r>
          </a:p>
          <a:p>
            <a:pPr>
              <a:lnSpc>
                <a:spcPct val="122000"/>
              </a:lnSpc>
              <a:spcAft>
                <a:spcPts val="1500"/>
              </a:spcAft>
            </a:pPr>
            <a:r>
              <a:rPr sz="1450" b="1">
                <a:solidFill>
                  <a:srgbClr val="0F1B2D"/>
                </a:solidFill>
                <a:latin typeface="Segoe UI"/>
              </a:rPr>
              <a:t>Persistance. </a:t>
            </a:r>
            <a:r>
              <a:rPr sz="1450">
                <a:solidFill>
                  <a:srgbClr val="1F2A37"/>
                </a:solidFill>
                <a:latin typeface="Segoe UI"/>
              </a:rPr>
              <a:t>PostgreSQL, 30 tables, schéma gouverné par 3 migrations Flyway et validé au démarrage par Hibernate.</a:t>
            </a:r>
          </a:p>
          <a:p>
            <a:pPr>
              <a:lnSpc>
                <a:spcPct val="122000"/>
              </a:lnSpc>
              <a:spcAft>
                <a:spcPts val="1500"/>
              </a:spcAft>
            </a:pPr>
            <a:r>
              <a:rPr sz="1450" b="1">
                <a:solidFill>
                  <a:srgbClr val="0F1B2D"/>
                </a:solidFill>
                <a:latin typeface="Segoe UI"/>
              </a:rPr>
              <a:t>Principe. </a:t>
            </a:r>
            <a:r>
              <a:rPr sz="1450">
                <a:solidFill>
                  <a:srgbClr val="1F2A37"/>
                </a:solidFill>
                <a:latin typeface="Segoe UI"/>
              </a:rPr>
              <a:t>Le client n'est jamais la source de vérité : toute décision d'autorisation est reprise côté serveur.</a:t>
            </a:r>
          </a:p>
        </p:txBody>
      </p:sp>
      <p:sp>
        <p:nvSpPr>
          <p:cNvPr id="6" name="Rectangle 5"/>
          <p:cNvSpPr/>
          <p:nvPr/>
        </p:nvSpPr>
        <p:spPr>
          <a:xfrm>
            <a:off x="6259121" y="1637284"/>
            <a:ext cx="4517030" cy="4333240"/>
          </a:xfrm>
          <a:prstGeom prst="rect">
            <a:avLst/>
          </a:prstGeom>
          <a:solidFill>
            <a:srgbClr val="FFFFFF"/>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2-architecture.png"/>
          <p:cNvPicPr>
            <a:picLocks noChangeAspect="1"/>
          </p:cNvPicPr>
          <p:nvPr/>
        </p:nvPicPr>
        <p:blipFill>
          <a:blip r:embed="rId2"/>
          <a:stretch>
            <a:fillRect/>
          </a:stretch>
        </p:blipFill>
        <p:spPr>
          <a:xfrm>
            <a:off x="6322621" y="1700784"/>
            <a:ext cx="4390030" cy="4206240"/>
          </a:xfrm>
          <a:prstGeom prst="rect">
            <a:avLst/>
          </a:prstGeom>
        </p:spPr>
      </p:pic>
      <p:sp>
        <p:nvSpPr>
          <p:cNvPr id="8" name="TextBox 7"/>
          <p:cNvSpPr txBox="1"/>
          <p:nvPr/>
        </p:nvSpPr>
        <p:spPr>
          <a:xfrm>
            <a:off x="5559552" y="5998464"/>
            <a:ext cx="5916168" cy="274320"/>
          </a:xfrm>
          <a:prstGeom prst="rect">
            <a:avLst/>
          </a:prstGeom>
          <a:noFill/>
        </p:spPr>
        <p:txBody>
          <a:bodyPr wrap="square" lIns="0" rIns="0" tIns="0" bIns="0" anchor="t">
            <a:spAutoFit/>
          </a:bodyPr>
          <a:lstStyle/>
          <a:p>
            <a:pPr algn="ctr">
              <a:lnSpc>
                <a:spcPct val="95000"/>
              </a:lnSpc>
              <a:spcAft>
                <a:spcPts val="0"/>
              </a:spcAft>
            </a:pPr>
            <a:r>
              <a:rPr sz="1100" b="0">
                <a:solidFill>
                  <a:srgbClr val="64748B"/>
                </a:solidFill>
                <a:latin typeface="Segoe UI"/>
              </a:rPr>
              <a:t>Diagramme de déploiement — architecture applicative</a:t>
            </a:r>
          </a:p>
        </p:txBody>
      </p:sp>
      <p:sp>
        <p:nvSpPr>
          <p:cNvPr id="9" name="TextBox 8"/>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10" name="TextBox 9"/>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03 — TECHNOLOGIES</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Jakarta EE comme socle, Spring Boot comme mise en œuvre</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828800"/>
            <a:ext cx="10765231" cy="731520"/>
          </a:xfrm>
          <a:prstGeom prst="rect">
            <a:avLst/>
          </a:prstGeom>
          <a:noFill/>
        </p:spPr>
        <p:txBody>
          <a:bodyPr wrap="square" lIns="0" rIns="0" tIns="0" bIns="0" anchor="t">
            <a:spAutoFit/>
          </a:bodyPr>
          <a:lstStyle/>
          <a:p>
            <a:pPr algn="l">
              <a:lnSpc>
                <a:spcPct val="125000"/>
              </a:lnSpc>
              <a:spcAft>
                <a:spcPts val="0"/>
              </a:spcAft>
            </a:pPr>
            <a:r>
              <a:rPr sz="1500" b="0">
                <a:solidFill>
                  <a:srgbClr val="64748B"/>
                </a:solidFill>
                <a:latin typeface="Segoe UI"/>
              </a:rPr>
              <a:t>Le module porte sur Java Enterprise Edition. Spring Boot n'écarte pas ces spécifications : il en fournit une implémentation moderne, auto-configurée et exécutable en autonome.</a:t>
            </a:r>
          </a:p>
        </p:txBody>
      </p:sp>
      <p:sp>
        <p:nvSpPr>
          <p:cNvPr id="6" name="Rectangle 5"/>
          <p:cNvSpPr/>
          <p:nvPr/>
        </p:nvSpPr>
        <p:spPr>
          <a:xfrm>
            <a:off x="713232" y="2670048"/>
            <a:ext cx="10765231" cy="51206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2825496"/>
            <a:ext cx="3383280" cy="274320"/>
          </a:xfrm>
          <a:prstGeom prst="rect">
            <a:avLst/>
          </a:prstGeom>
          <a:noFill/>
        </p:spPr>
        <p:txBody>
          <a:bodyPr wrap="square" lIns="0" rIns="0" tIns="0" bIns="0" anchor="t">
            <a:spAutoFit/>
          </a:bodyPr>
          <a:lstStyle/>
          <a:p>
            <a:pPr algn="l">
              <a:lnSpc>
                <a:spcPct val="95000"/>
              </a:lnSpc>
              <a:spcAft>
                <a:spcPts val="0"/>
              </a:spcAft>
            </a:pPr>
            <a:r>
              <a:rPr sz="1100" b="1">
                <a:solidFill>
                  <a:srgbClr val="8FB0D0"/>
                </a:solidFill>
                <a:latin typeface="Segoe UI"/>
              </a:rPr>
              <a:t>BESOIN</a:t>
            </a:r>
          </a:p>
        </p:txBody>
      </p:sp>
      <p:sp>
        <p:nvSpPr>
          <p:cNvPr id="8" name="TextBox 7"/>
          <p:cNvSpPr txBox="1"/>
          <p:nvPr/>
        </p:nvSpPr>
        <p:spPr>
          <a:xfrm>
            <a:off x="4553712" y="2825496"/>
            <a:ext cx="3383280" cy="274320"/>
          </a:xfrm>
          <a:prstGeom prst="rect">
            <a:avLst/>
          </a:prstGeom>
          <a:noFill/>
        </p:spPr>
        <p:txBody>
          <a:bodyPr wrap="square" lIns="0" rIns="0" tIns="0" bIns="0" anchor="t">
            <a:spAutoFit/>
          </a:bodyPr>
          <a:lstStyle/>
          <a:p>
            <a:pPr algn="l">
              <a:lnSpc>
                <a:spcPct val="95000"/>
              </a:lnSpc>
              <a:spcAft>
                <a:spcPts val="0"/>
              </a:spcAft>
            </a:pPr>
            <a:r>
              <a:rPr sz="1100" b="1">
                <a:solidFill>
                  <a:srgbClr val="8FB0D0"/>
                </a:solidFill>
                <a:latin typeface="Segoe UI"/>
              </a:rPr>
              <a:t>SPÉCIFICATION JAKARTA EE</a:t>
            </a:r>
          </a:p>
        </p:txBody>
      </p:sp>
      <p:sp>
        <p:nvSpPr>
          <p:cNvPr id="9" name="TextBox 8"/>
          <p:cNvSpPr txBox="1"/>
          <p:nvPr/>
        </p:nvSpPr>
        <p:spPr>
          <a:xfrm>
            <a:off x="8119872" y="2825496"/>
            <a:ext cx="3383280" cy="274320"/>
          </a:xfrm>
          <a:prstGeom prst="rect">
            <a:avLst/>
          </a:prstGeom>
          <a:noFill/>
        </p:spPr>
        <p:txBody>
          <a:bodyPr wrap="square" lIns="0" rIns="0" tIns="0" bIns="0" anchor="t">
            <a:spAutoFit/>
          </a:bodyPr>
          <a:lstStyle/>
          <a:p>
            <a:pPr algn="l">
              <a:lnSpc>
                <a:spcPct val="95000"/>
              </a:lnSpc>
              <a:spcAft>
                <a:spcPts val="0"/>
              </a:spcAft>
            </a:pPr>
            <a:r>
              <a:rPr sz="1100" b="1">
                <a:solidFill>
                  <a:srgbClr val="8FB0D0"/>
                </a:solidFill>
                <a:latin typeface="Segoe UI"/>
              </a:rPr>
              <a:t>IMPLÉMENTATION RETENUE</a:t>
            </a:r>
          </a:p>
        </p:txBody>
      </p:sp>
      <p:sp>
        <p:nvSpPr>
          <p:cNvPr id="10" name="Rectangle 9"/>
          <p:cNvSpPr/>
          <p:nvPr/>
        </p:nvSpPr>
        <p:spPr>
          <a:xfrm>
            <a:off x="713232" y="3182112"/>
            <a:ext cx="10765231" cy="512064"/>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3328416"/>
            <a:ext cx="3383280" cy="310896"/>
          </a:xfrm>
          <a:prstGeom prst="rect">
            <a:avLst/>
          </a:prstGeom>
          <a:noFill/>
        </p:spPr>
        <p:txBody>
          <a:bodyPr wrap="square" lIns="0" rIns="0" tIns="0" bIns="0" anchor="t">
            <a:spAutoFit/>
          </a:bodyPr>
          <a:lstStyle/>
          <a:p>
            <a:pPr algn="l">
              <a:lnSpc>
                <a:spcPct val="95000"/>
              </a:lnSpc>
              <a:spcAft>
                <a:spcPts val="0"/>
              </a:spcAft>
            </a:pPr>
            <a:r>
              <a:rPr sz="1300" b="1">
                <a:solidFill>
                  <a:srgbClr val="0F1B2D"/>
                </a:solidFill>
                <a:latin typeface="Segoe UI"/>
              </a:rPr>
              <a:t>Persistance</a:t>
            </a:r>
          </a:p>
        </p:txBody>
      </p:sp>
      <p:sp>
        <p:nvSpPr>
          <p:cNvPr id="12" name="TextBox 11"/>
          <p:cNvSpPr txBox="1"/>
          <p:nvPr/>
        </p:nvSpPr>
        <p:spPr>
          <a:xfrm>
            <a:off x="4553712" y="3328416"/>
            <a:ext cx="338328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Jakarta Persistence (JPA)</a:t>
            </a:r>
          </a:p>
        </p:txBody>
      </p:sp>
      <p:sp>
        <p:nvSpPr>
          <p:cNvPr id="13" name="TextBox 12"/>
          <p:cNvSpPr txBox="1"/>
          <p:nvPr/>
        </p:nvSpPr>
        <p:spPr>
          <a:xfrm>
            <a:off x="8119872" y="3328416"/>
            <a:ext cx="338328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Hibernate 6.5 via Spring Data JPA</a:t>
            </a:r>
          </a:p>
        </p:txBody>
      </p:sp>
      <p:sp>
        <p:nvSpPr>
          <p:cNvPr id="14" name="TextBox 13"/>
          <p:cNvSpPr txBox="1"/>
          <p:nvPr/>
        </p:nvSpPr>
        <p:spPr>
          <a:xfrm>
            <a:off x="987552" y="3840480"/>
            <a:ext cx="3383280" cy="310896"/>
          </a:xfrm>
          <a:prstGeom prst="rect">
            <a:avLst/>
          </a:prstGeom>
          <a:noFill/>
        </p:spPr>
        <p:txBody>
          <a:bodyPr wrap="square" lIns="0" rIns="0" tIns="0" bIns="0" anchor="t">
            <a:spAutoFit/>
          </a:bodyPr>
          <a:lstStyle/>
          <a:p>
            <a:pPr algn="l">
              <a:lnSpc>
                <a:spcPct val="95000"/>
              </a:lnSpc>
              <a:spcAft>
                <a:spcPts val="0"/>
              </a:spcAft>
            </a:pPr>
            <a:r>
              <a:rPr sz="1300" b="1">
                <a:solidFill>
                  <a:srgbClr val="0F1B2D"/>
                </a:solidFill>
                <a:latin typeface="Segoe UI"/>
              </a:rPr>
              <a:t>Validation</a:t>
            </a:r>
          </a:p>
        </p:txBody>
      </p:sp>
      <p:sp>
        <p:nvSpPr>
          <p:cNvPr id="15" name="TextBox 14"/>
          <p:cNvSpPr txBox="1"/>
          <p:nvPr/>
        </p:nvSpPr>
        <p:spPr>
          <a:xfrm>
            <a:off x="4553712" y="3840480"/>
            <a:ext cx="338328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Jakarta Bean Validation</a:t>
            </a:r>
          </a:p>
        </p:txBody>
      </p:sp>
      <p:sp>
        <p:nvSpPr>
          <p:cNvPr id="16" name="TextBox 15"/>
          <p:cNvSpPr txBox="1"/>
          <p:nvPr/>
        </p:nvSpPr>
        <p:spPr>
          <a:xfrm>
            <a:off x="8119872" y="3840480"/>
            <a:ext cx="338328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Hibernate Validator, 35 points de contrôle</a:t>
            </a:r>
          </a:p>
        </p:txBody>
      </p:sp>
      <p:sp>
        <p:nvSpPr>
          <p:cNvPr id="17" name="Rectangle 16"/>
          <p:cNvSpPr/>
          <p:nvPr/>
        </p:nvSpPr>
        <p:spPr>
          <a:xfrm>
            <a:off x="713232" y="4206240"/>
            <a:ext cx="10765231" cy="512064"/>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4352544"/>
            <a:ext cx="3383280" cy="310896"/>
          </a:xfrm>
          <a:prstGeom prst="rect">
            <a:avLst/>
          </a:prstGeom>
          <a:noFill/>
        </p:spPr>
        <p:txBody>
          <a:bodyPr wrap="square" lIns="0" rIns="0" tIns="0" bIns="0" anchor="t">
            <a:spAutoFit/>
          </a:bodyPr>
          <a:lstStyle/>
          <a:p>
            <a:pPr algn="l">
              <a:lnSpc>
                <a:spcPct val="95000"/>
              </a:lnSpc>
              <a:spcAft>
                <a:spcPts val="0"/>
              </a:spcAft>
            </a:pPr>
            <a:r>
              <a:rPr sz="1300" b="1">
                <a:solidFill>
                  <a:srgbClr val="0F1B2D"/>
                </a:solidFill>
                <a:latin typeface="Segoe UI"/>
              </a:rPr>
              <a:t>Web / REST</a:t>
            </a:r>
          </a:p>
        </p:txBody>
      </p:sp>
      <p:sp>
        <p:nvSpPr>
          <p:cNvPr id="19" name="TextBox 18"/>
          <p:cNvSpPr txBox="1"/>
          <p:nvPr/>
        </p:nvSpPr>
        <p:spPr>
          <a:xfrm>
            <a:off x="4553712" y="4352544"/>
            <a:ext cx="338328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Jakarta Servlet</a:t>
            </a:r>
          </a:p>
        </p:txBody>
      </p:sp>
      <p:sp>
        <p:nvSpPr>
          <p:cNvPr id="20" name="TextBox 19"/>
          <p:cNvSpPr txBox="1"/>
          <p:nvPr/>
        </p:nvSpPr>
        <p:spPr>
          <a:xfrm>
            <a:off x="8119872" y="4352544"/>
            <a:ext cx="338328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Spring MVC, 22 contrôleurs REST</a:t>
            </a:r>
          </a:p>
        </p:txBody>
      </p:sp>
      <p:sp>
        <p:nvSpPr>
          <p:cNvPr id="21" name="TextBox 20"/>
          <p:cNvSpPr txBox="1"/>
          <p:nvPr/>
        </p:nvSpPr>
        <p:spPr>
          <a:xfrm>
            <a:off x="987552" y="4864608"/>
            <a:ext cx="3383280" cy="310896"/>
          </a:xfrm>
          <a:prstGeom prst="rect">
            <a:avLst/>
          </a:prstGeom>
          <a:noFill/>
        </p:spPr>
        <p:txBody>
          <a:bodyPr wrap="square" lIns="0" rIns="0" tIns="0" bIns="0" anchor="t">
            <a:spAutoFit/>
          </a:bodyPr>
          <a:lstStyle/>
          <a:p>
            <a:pPr algn="l">
              <a:lnSpc>
                <a:spcPct val="95000"/>
              </a:lnSpc>
              <a:spcAft>
                <a:spcPts val="0"/>
              </a:spcAft>
            </a:pPr>
            <a:r>
              <a:rPr sz="1300" b="1">
                <a:solidFill>
                  <a:srgbClr val="0F1B2D"/>
                </a:solidFill>
                <a:latin typeface="Segoe UI"/>
              </a:rPr>
              <a:t>Injection</a:t>
            </a:r>
          </a:p>
        </p:txBody>
      </p:sp>
      <p:sp>
        <p:nvSpPr>
          <p:cNvPr id="22" name="TextBox 21"/>
          <p:cNvSpPr txBox="1"/>
          <p:nvPr/>
        </p:nvSpPr>
        <p:spPr>
          <a:xfrm>
            <a:off x="4553712" y="4864608"/>
            <a:ext cx="338328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Jakarta CDI (concept)</a:t>
            </a:r>
          </a:p>
        </p:txBody>
      </p:sp>
      <p:sp>
        <p:nvSpPr>
          <p:cNvPr id="23" name="TextBox 22"/>
          <p:cNvSpPr txBox="1"/>
          <p:nvPr/>
        </p:nvSpPr>
        <p:spPr>
          <a:xfrm>
            <a:off x="8119872" y="4864608"/>
            <a:ext cx="338328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Conteneur Spring, injection par constructeur</a:t>
            </a:r>
          </a:p>
        </p:txBody>
      </p:sp>
      <p:sp>
        <p:nvSpPr>
          <p:cNvPr id="24" name="Rectangle 23"/>
          <p:cNvSpPr/>
          <p:nvPr/>
        </p:nvSpPr>
        <p:spPr>
          <a:xfrm>
            <a:off x="713232" y="5230368"/>
            <a:ext cx="10765231" cy="512064"/>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5376672"/>
            <a:ext cx="3383280" cy="310896"/>
          </a:xfrm>
          <a:prstGeom prst="rect">
            <a:avLst/>
          </a:prstGeom>
          <a:noFill/>
        </p:spPr>
        <p:txBody>
          <a:bodyPr wrap="square" lIns="0" rIns="0" tIns="0" bIns="0" anchor="t">
            <a:spAutoFit/>
          </a:bodyPr>
          <a:lstStyle/>
          <a:p>
            <a:pPr algn="l">
              <a:lnSpc>
                <a:spcPct val="95000"/>
              </a:lnSpc>
              <a:spcAft>
                <a:spcPts val="0"/>
              </a:spcAft>
            </a:pPr>
            <a:r>
              <a:rPr sz="1300" b="1">
                <a:solidFill>
                  <a:srgbClr val="0F1B2D"/>
                </a:solidFill>
                <a:latin typeface="Segoe UI"/>
              </a:rPr>
              <a:t>Transactions</a:t>
            </a:r>
          </a:p>
        </p:txBody>
      </p:sp>
      <p:sp>
        <p:nvSpPr>
          <p:cNvPr id="26" name="TextBox 25"/>
          <p:cNvSpPr txBox="1"/>
          <p:nvPr/>
        </p:nvSpPr>
        <p:spPr>
          <a:xfrm>
            <a:off x="4553712" y="5376672"/>
            <a:ext cx="338328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Jakarta Transactions</a:t>
            </a:r>
          </a:p>
        </p:txBody>
      </p:sp>
      <p:sp>
        <p:nvSpPr>
          <p:cNvPr id="27" name="TextBox 26"/>
          <p:cNvSpPr txBox="1"/>
          <p:nvPr/>
        </p:nvSpPr>
        <p:spPr>
          <a:xfrm>
            <a:off x="8119872" y="5376672"/>
            <a:ext cx="338328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Gestion déclarative @Transactional</a:t>
            </a:r>
          </a:p>
        </p:txBody>
      </p:sp>
      <p:sp>
        <p:nvSpPr>
          <p:cNvPr id="28" name="TextBox 27"/>
          <p:cNvSpPr txBox="1"/>
          <p:nvPr/>
        </p:nvSpPr>
        <p:spPr>
          <a:xfrm>
            <a:off x="987552" y="5888736"/>
            <a:ext cx="3383280" cy="310896"/>
          </a:xfrm>
          <a:prstGeom prst="rect">
            <a:avLst/>
          </a:prstGeom>
          <a:noFill/>
        </p:spPr>
        <p:txBody>
          <a:bodyPr wrap="square" lIns="0" rIns="0" tIns="0" bIns="0" anchor="t">
            <a:spAutoFit/>
          </a:bodyPr>
          <a:lstStyle/>
          <a:p>
            <a:pPr algn="l">
              <a:lnSpc>
                <a:spcPct val="95000"/>
              </a:lnSpc>
              <a:spcAft>
                <a:spcPts val="0"/>
              </a:spcAft>
            </a:pPr>
            <a:r>
              <a:rPr sz="1300" b="1">
                <a:solidFill>
                  <a:srgbClr val="0F1B2D"/>
                </a:solidFill>
                <a:latin typeface="Segoe UI"/>
              </a:rPr>
              <a:t>Sécurité</a:t>
            </a:r>
          </a:p>
        </p:txBody>
      </p:sp>
      <p:sp>
        <p:nvSpPr>
          <p:cNvPr id="29" name="TextBox 28"/>
          <p:cNvSpPr txBox="1"/>
          <p:nvPr/>
        </p:nvSpPr>
        <p:spPr>
          <a:xfrm>
            <a:off x="4553712" y="5888736"/>
            <a:ext cx="338328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a:t>
            </a:r>
          </a:p>
        </p:txBody>
      </p:sp>
      <p:sp>
        <p:nvSpPr>
          <p:cNvPr id="30" name="TextBox 29"/>
          <p:cNvSpPr txBox="1"/>
          <p:nvPr/>
        </p:nvSpPr>
        <p:spPr>
          <a:xfrm>
            <a:off x="8119872" y="5888736"/>
            <a:ext cx="338328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Spring Security, JWT HS512, @PreAuthorize</a:t>
            </a:r>
          </a:p>
        </p:txBody>
      </p:sp>
      <p:sp>
        <p:nvSpPr>
          <p:cNvPr id="31" name="TextBox 30"/>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32" name="TextBox 31"/>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03 — MODÈLE DE DONNÉES</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Identité et gouvernance</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883664"/>
            <a:ext cx="4480560" cy="365760"/>
          </a:xfrm>
          <a:prstGeom prst="rect">
            <a:avLst/>
          </a:prstGeom>
          <a:noFill/>
        </p:spPr>
        <p:txBody>
          <a:bodyPr wrap="square" lIns="0" rIns="0" tIns="0" bIns="0">
            <a:spAutoFit/>
          </a:bodyPr>
          <a:lstStyle/>
          <a:p>
            <a:pPr>
              <a:lnSpc>
                <a:spcPct val="122000"/>
              </a:lnSpc>
              <a:spcAft>
                <a:spcPts val="1500"/>
              </a:spcAft>
            </a:pPr>
            <a:r>
              <a:rPr sz="1450" b="1">
                <a:solidFill>
                  <a:srgbClr val="0F1B2D"/>
                </a:solidFill>
                <a:latin typeface="Segoe UI"/>
              </a:rPr>
              <a:t>31 entités JPA</a:t>
            </a:r>
            <a:r>
              <a:rPr sz="1450">
                <a:solidFill>
                  <a:srgbClr val="1F2A37"/>
                </a:solidFill>
                <a:latin typeface="Segoe UI"/>
              </a:rPr>
              <a:t> réparties en quatre domaines : identité et gouvernance, activité scientifique, ressources, traçabilité.</a:t>
            </a:r>
          </a:p>
          <a:p>
            <a:pPr>
              <a:lnSpc>
                <a:spcPct val="122000"/>
              </a:lnSpc>
              <a:spcAft>
                <a:spcPts val="1500"/>
              </a:spcAft>
            </a:pPr>
            <a:r>
              <a:rPr sz="1450" b="1">
                <a:solidFill>
                  <a:srgbClr val="0F1B2D"/>
                </a:solidFill>
                <a:latin typeface="Segoe UI"/>
              </a:rPr>
              <a:t>Mandate</a:t>
            </a:r>
            <a:r>
              <a:rPr sz="1450">
                <a:solidFill>
                  <a:srgbClr val="1F2A37"/>
                </a:solidFill>
                <a:latin typeface="Segoe UI"/>
              </a:rPr>
              <a:t> porte la responsabilité datée et son équipe ; il n'y a jamais deux titulaires actifs pour un même poste.</a:t>
            </a:r>
          </a:p>
          <a:p>
            <a:pPr>
              <a:lnSpc>
                <a:spcPct val="122000"/>
              </a:lnSpc>
              <a:spcAft>
                <a:spcPts val="1500"/>
              </a:spcAft>
            </a:pPr>
            <a:r>
              <a:rPr sz="1450" b="1">
                <a:solidFill>
                  <a:srgbClr val="0F1B2D"/>
                </a:solidFill>
                <a:latin typeface="Segoe UI"/>
              </a:rPr>
              <a:t>Quatre tables d'historique</a:t>
            </a:r>
            <a:r>
              <a:rPr sz="1450">
                <a:solidFill>
                  <a:srgbClr val="1F2A37"/>
                </a:solidFill>
                <a:latin typeface="Segoe UI"/>
              </a:rPr>
              <a:t> : statuts, affiliations, appartenances d'équipe et rôles effectifs. Rien n'est écrasé.</a:t>
            </a:r>
          </a:p>
          <a:p>
            <a:pPr>
              <a:lnSpc>
                <a:spcPct val="122000"/>
              </a:lnSpc>
              <a:spcAft>
                <a:spcPts val="1500"/>
              </a:spcAft>
            </a:pPr>
            <a:r>
              <a:rPr sz="1450" b="1">
                <a:solidFill>
                  <a:srgbClr val="0F1B2D"/>
                </a:solidFill>
                <a:latin typeface="Segoe UI"/>
              </a:rPr>
              <a:t>Suppression logique</a:t>
            </a:r>
            <a:r>
              <a:rPr sz="1450">
                <a:solidFill>
                  <a:srgbClr val="1F2A37"/>
                </a:solidFill>
                <a:latin typeface="Segoe UI"/>
              </a:rPr>
              <a:t> généralisée : une ligne archivée sort des requêtes sans disparaître de la base.</a:t>
            </a:r>
          </a:p>
        </p:txBody>
      </p:sp>
      <p:sp>
        <p:nvSpPr>
          <p:cNvPr id="6" name="Rectangle 5"/>
          <p:cNvSpPr/>
          <p:nvPr/>
        </p:nvSpPr>
        <p:spPr>
          <a:xfrm>
            <a:off x="6592633" y="1637284"/>
            <a:ext cx="3850005" cy="4333240"/>
          </a:xfrm>
          <a:prstGeom prst="rect">
            <a:avLst/>
          </a:prstGeom>
          <a:solidFill>
            <a:srgbClr val="FFFFFF"/>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3-class-identite-gouvernance.png"/>
          <p:cNvPicPr>
            <a:picLocks noChangeAspect="1"/>
          </p:cNvPicPr>
          <p:nvPr/>
        </p:nvPicPr>
        <p:blipFill>
          <a:blip r:embed="rId2"/>
          <a:stretch>
            <a:fillRect/>
          </a:stretch>
        </p:blipFill>
        <p:spPr>
          <a:xfrm>
            <a:off x="6656133" y="1700784"/>
            <a:ext cx="3723005" cy="4206240"/>
          </a:xfrm>
          <a:prstGeom prst="rect">
            <a:avLst/>
          </a:prstGeom>
        </p:spPr>
      </p:pic>
      <p:sp>
        <p:nvSpPr>
          <p:cNvPr id="8" name="TextBox 7"/>
          <p:cNvSpPr txBox="1"/>
          <p:nvPr/>
        </p:nvSpPr>
        <p:spPr>
          <a:xfrm>
            <a:off x="5559552" y="5998464"/>
            <a:ext cx="5916168" cy="274320"/>
          </a:xfrm>
          <a:prstGeom prst="rect">
            <a:avLst/>
          </a:prstGeom>
          <a:noFill/>
        </p:spPr>
        <p:txBody>
          <a:bodyPr wrap="square" lIns="0" rIns="0" tIns="0" bIns="0" anchor="t">
            <a:spAutoFit/>
          </a:bodyPr>
          <a:lstStyle/>
          <a:p>
            <a:pPr algn="ctr">
              <a:lnSpc>
                <a:spcPct val="95000"/>
              </a:lnSpc>
              <a:spcAft>
                <a:spcPts val="0"/>
              </a:spcAft>
            </a:pPr>
            <a:r>
              <a:rPr sz="1100" b="0">
                <a:solidFill>
                  <a:srgbClr val="64748B"/>
                </a:solidFill>
                <a:latin typeface="Segoe UI"/>
              </a:rPr>
              <a:t>Diagramme de classes — identité et gouvernance</a:t>
            </a:r>
          </a:p>
        </p:txBody>
      </p:sp>
      <p:sp>
        <p:nvSpPr>
          <p:cNvPr id="9" name="TextBox 8"/>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10" name="TextBox 9"/>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04 — SÉCURITÉ</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Le rôle suit le mandat, automatiquement</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9151" y="1637284"/>
            <a:ext cx="7812001" cy="4424680"/>
          </a:xfrm>
          <a:prstGeom prst="rect">
            <a:avLst/>
          </a:prstGeom>
          <a:solidFill>
            <a:srgbClr val="FFFFFF"/>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7-sequence-attribution-mandat.png"/>
          <p:cNvPicPr>
            <a:picLocks noChangeAspect="1"/>
          </p:cNvPicPr>
          <p:nvPr/>
        </p:nvPicPr>
        <p:blipFill>
          <a:blip r:embed="rId2"/>
          <a:stretch>
            <a:fillRect/>
          </a:stretch>
        </p:blipFill>
        <p:spPr>
          <a:xfrm>
            <a:off x="802651" y="1700784"/>
            <a:ext cx="7685001" cy="4297680"/>
          </a:xfrm>
          <a:prstGeom prst="rect">
            <a:avLst/>
          </a:prstGeom>
        </p:spPr>
      </p:pic>
      <p:sp>
        <p:nvSpPr>
          <p:cNvPr id="7" name="TextBox 6"/>
          <p:cNvSpPr txBox="1"/>
          <p:nvPr/>
        </p:nvSpPr>
        <p:spPr>
          <a:xfrm>
            <a:off x="713232" y="6089904"/>
            <a:ext cx="7863840" cy="274320"/>
          </a:xfrm>
          <a:prstGeom prst="rect">
            <a:avLst/>
          </a:prstGeom>
          <a:noFill/>
        </p:spPr>
        <p:txBody>
          <a:bodyPr wrap="square" lIns="0" rIns="0" tIns="0" bIns="0" anchor="t">
            <a:spAutoFit/>
          </a:bodyPr>
          <a:lstStyle/>
          <a:p>
            <a:pPr algn="ctr">
              <a:lnSpc>
                <a:spcPct val="95000"/>
              </a:lnSpc>
              <a:spcAft>
                <a:spcPts val="0"/>
              </a:spcAft>
            </a:pPr>
            <a:r>
              <a:rPr sz="1100" b="0">
                <a:solidFill>
                  <a:srgbClr val="64748B"/>
                </a:solidFill>
                <a:latin typeface="Segoe UI"/>
              </a:rPr>
              <a:t>Diagramme de séquence — attribution d'un mandat et synchronisation du rôle</a:t>
            </a:r>
          </a:p>
        </p:txBody>
      </p:sp>
      <p:sp>
        <p:nvSpPr>
          <p:cNvPr id="8" name="Rectangle 7"/>
          <p:cNvSpPr/>
          <p:nvPr/>
        </p:nvSpPr>
        <p:spPr>
          <a:xfrm>
            <a:off x="8897111" y="1920240"/>
            <a:ext cx="40640" cy="45720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79" y="1956816"/>
            <a:ext cx="2377440" cy="274320"/>
          </a:xfrm>
          <a:prstGeom prst="rect">
            <a:avLst/>
          </a:prstGeom>
          <a:noFill/>
        </p:spPr>
        <p:txBody>
          <a:bodyPr wrap="square" lIns="0" rIns="0" tIns="0" bIns="0" anchor="t">
            <a:spAutoFit/>
          </a:bodyPr>
          <a:lstStyle/>
          <a:p>
            <a:pPr algn="l">
              <a:lnSpc>
                <a:spcPct val="95000"/>
              </a:lnSpc>
              <a:spcAft>
                <a:spcPts val="0"/>
              </a:spcAft>
            </a:pPr>
            <a:r>
              <a:rPr sz="1100" b="1">
                <a:solidFill>
                  <a:srgbClr val="3B6EA5"/>
                </a:solidFill>
                <a:latin typeface="Segoe UI"/>
              </a:rPr>
              <a:t>CE QU'IL FAUT RETENIR</a:t>
            </a:r>
          </a:p>
        </p:txBody>
      </p:sp>
      <p:sp>
        <p:nvSpPr>
          <p:cNvPr id="10" name="TextBox 9"/>
          <p:cNvSpPr txBox="1"/>
          <p:nvPr/>
        </p:nvSpPr>
        <p:spPr>
          <a:xfrm>
            <a:off x="9098279" y="2322576"/>
            <a:ext cx="2377440" cy="3255264"/>
          </a:xfrm>
          <a:prstGeom prst="rect">
            <a:avLst/>
          </a:prstGeom>
          <a:noFill/>
        </p:spPr>
        <p:txBody>
          <a:bodyPr wrap="square" lIns="0" rIns="0" tIns="0" bIns="0" anchor="t">
            <a:spAutoFit/>
          </a:bodyPr>
          <a:lstStyle/>
          <a:p>
            <a:pPr algn="l">
              <a:lnSpc>
                <a:spcPct val="130000"/>
              </a:lnSpc>
              <a:spcAft>
                <a:spcPts val="0"/>
              </a:spcAft>
            </a:pPr>
            <a:r>
              <a:rPr sz="1350" b="0">
                <a:solidFill>
                  <a:srgbClr val="1F2A37"/>
                </a:solidFill>
                <a:latin typeface="Segoe UI"/>
              </a:rPr>
              <a:t>Attribuer un mandat clôture celui du titulaire précédent, recalcule les deux rôles effectifs et historise chaque changement.
Aucune intervention manuelle sur le rôle n'est possible, en dehors d'une action explicite d'administrateur système.</a:t>
            </a:r>
          </a:p>
        </p:txBody>
      </p:sp>
      <p:sp>
        <p:nvSpPr>
          <p:cNvPr id="11" name="TextBox 10"/>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12" name="TextBox 11"/>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04 — SÉCURITÉ</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Cycle de vie d'un membre et gel des comptes</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883664"/>
            <a:ext cx="4480560" cy="365760"/>
          </a:xfrm>
          <a:prstGeom prst="rect">
            <a:avLst/>
          </a:prstGeom>
          <a:noFill/>
        </p:spPr>
        <p:txBody>
          <a:bodyPr wrap="square" lIns="0" rIns="0" tIns="0" bIns="0">
            <a:spAutoFit/>
          </a:bodyPr>
          <a:lstStyle/>
          <a:p>
            <a:pPr>
              <a:lnSpc>
                <a:spcPct val="122000"/>
              </a:lnSpc>
              <a:spcAft>
                <a:spcPts val="1500"/>
              </a:spcAft>
            </a:pPr>
            <a:r>
              <a:rPr sz="1450" b="1">
                <a:solidFill>
                  <a:srgbClr val="0F1B2D"/>
                </a:solidFill>
                <a:latin typeface="Segoe UI"/>
              </a:rPr>
              <a:t>Retraité / Ancien membre</a:t>
            </a:r>
            <a:r>
              <a:rPr sz="1450">
                <a:solidFill>
                  <a:srgbClr val="1F2A37"/>
                </a:solidFill>
                <a:latin typeface="Segoe UI"/>
              </a:rPr>
              <a:t> : le compte est gelé, quelle que soit la valeur brute du drapeau d'activation en base.</a:t>
            </a:r>
          </a:p>
          <a:p>
            <a:pPr>
              <a:lnSpc>
                <a:spcPct val="122000"/>
              </a:lnSpc>
              <a:spcAft>
                <a:spcPts val="1500"/>
              </a:spcAft>
            </a:pPr>
            <a:r>
              <a:rPr sz="1450" b="1">
                <a:solidFill>
                  <a:srgbClr val="0F1B2D"/>
                </a:solidFill>
                <a:latin typeface="Segoe UI"/>
              </a:rPr>
              <a:t>Le gel est vérifié à chaque requête</a:t>
            </a:r>
            <a:r>
              <a:rPr sz="1450">
                <a:solidFill>
                  <a:srgbClr val="1F2A37"/>
                </a:solidFill>
                <a:latin typeface="Segoe UI"/>
              </a:rPr>
              <a:t>, pas seulement à la connexion : les droits sont rechargés depuis la base.</a:t>
            </a:r>
          </a:p>
          <a:p>
            <a:pPr>
              <a:lnSpc>
                <a:spcPct val="122000"/>
              </a:lnSpc>
              <a:spcAft>
                <a:spcPts val="1500"/>
              </a:spcAft>
            </a:pPr>
            <a:r>
              <a:rPr sz="1450" b="1">
                <a:solidFill>
                  <a:srgbClr val="0F1B2D"/>
                </a:solidFill>
                <a:latin typeface="Segoe UI"/>
              </a:rPr>
              <a:t>Le passage à ces statuts</a:t>
            </a:r>
            <a:r>
              <a:rPr sz="1450">
                <a:solidFill>
                  <a:srgbClr val="1F2A37"/>
                </a:solidFill>
                <a:latin typeface="Segoe UI"/>
              </a:rPr>
              <a:t> clôture automatiquement les mandats en cours. L'archivage d'un membre applique la même règle.</a:t>
            </a:r>
          </a:p>
          <a:p>
            <a:pPr>
              <a:lnSpc>
                <a:spcPct val="122000"/>
              </a:lnSpc>
              <a:spcAft>
                <a:spcPts val="1500"/>
              </a:spcAft>
            </a:pPr>
            <a:r>
              <a:rPr sz="1450" b="1">
                <a:solidFill>
                  <a:srgbClr val="0F1B2D"/>
                </a:solidFill>
                <a:latin typeface="Segoe UI"/>
              </a:rPr>
              <a:t>Un ancien membre peut revenir</a:t>
            </a:r>
            <a:r>
              <a:rPr sz="1450">
                <a:solidFill>
                  <a:srgbClr val="1F2A37"/>
                </a:solidFill>
                <a:latin typeface="Segoe UI"/>
              </a:rPr>
              <a:t> : une nouvelle période d'affiliation s'ouvre, la précédente est conservée.</a:t>
            </a:r>
          </a:p>
        </p:txBody>
      </p:sp>
      <p:sp>
        <p:nvSpPr>
          <p:cNvPr id="6" name="Rectangle 5"/>
          <p:cNvSpPr/>
          <p:nvPr/>
        </p:nvSpPr>
        <p:spPr>
          <a:xfrm>
            <a:off x="6289014" y="1637284"/>
            <a:ext cx="4457244" cy="4333240"/>
          </a:xfrm>
          <a:prstGeom prst="rect">
            <a:avLst/>
          </a:prstGeom>
          <a:solidFill>
            <a:srgbClr val="FFFFFF"/>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8-etats-cycle-vie-membre.png"/>
          <p:cNvPicPr>
            <a:picLocks noChangeAspect="1"/>
          </p:cNvPicPr>
          <p:nvPr/>
        </p:nvPicPr>
        <p:blipFill>
          <a:blip r:embed="rId2"/>
          <a:stretch>
            <a:fillRect/>
          </a:stretch>
        </p:blipFill>
        <p:spPr>
          <a:xfrm>
            <a:off x="6352514" y="1700784"/>
            <a:ext cx="4330244" cy="4206240"/>
          </a:xfrm>
          <a:prstGeom prst="rect">
            <a:avLst/>
          </a:prstGeom>
        </p:spPr>
      </p:pic>
      <p:sp>
        <p:nvSpPr>
          <p:cNvPr id="8" name="TextBox 7"/>
          <p:cNvSpPr txBox="1"/>
          <p:nvPr/>
        </p:nvSpPr>
        <p:spPr>
          <a:xfrm>
            <a:off x="5559552" y="5998464"/>
            <a:ext cx="5916168" cy="274320"/>
          </a:xfrm>
          <a:prstGeom prst="rect">
            <a:avLst/>
          </a:prstGeom>
          <a:noFill/>
        </p:spPr>
        <p:txBody>
          <a:bodyPr wrap="square" lIns="0" rIns="0" tIns="0" bIns="0" anchor="t">
            <a:spAutoFit/>
          </a:bodyPr>
          <a:lstStyle/>
          <a:p>
            <a:pPr algn="ctr">
              <a:lnSpc>
                <a:spcPct val="95000"/>
              </a:lnSpc>
              <a:spcAft>
                <a:spcPts val="0"/>
              </a:spcAft>
            </a:pPr>
            <a:r>
              <a:rPr sz="1100" b="0">
                <a:solidFill>
                  <a:srgbClr val="64748B"/>
                </a:solidFill>
                <a:latin typeface="Segoe UI"/>
              </a:rPr>
              <a:t>Diagramme d'états — cycle de vie d'un membre</a:t>
            </a:r>
          </a:p>
        </p:txBody>
      </p:sp>
      <p:sp>
        <p:nvSpPr>
          <p:cNvPr id="9" name="TextBox 8"/>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10" name="TextBox 9"/>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04 — SÉCURITÉ</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Neuf rôles, une matrice d'autorisation vérifiée</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883664"/>
            <a:ext cx="5120640" cy="365760"/>
          </a:xfrm>
          <a:prstGeom prst="rect">
            <a:avLst/>
          </a:prstGeom>
          <a:noFill/>
        </p:spPr>
        <p:txBody>
          <a:bodyPr wrap="square" lIns="0" rIns="0" tIns="0" bIns="0">
            <a:spAutoFit/>
          </a:bodyPr>
          <a:lstStyle/>
          <a:p>
            <a:pPr>
              <a:lnSpc>
                <a:spcPct val="122000"/>
              </a:lnSpc>
              <a:spcAft>
                <a:spcPts val="1500"/>
              </a:spcAft>
            </a:pPr>
            <a:r>
              <a:rPr sz="1500" b="1">
                <a:solidFill>
                  <a:srgbClr val="0F1B2D"/>
                </a:solidFill>
                <a:latin typeface="Segoe UI"/>
              </a:rPr>
              <a:t>Authentification. </a:t>
            </a:r>
            <a:r>
              <a:rPr sz="1500">
                <a:solidFill>
                  <a:srgbClr val="1F2A37"/>
                </a:solidFill>
                <a:latin typeface="Segoe UI"/>
              </a:rPr>
              <a:t>JWT signé en HS512, jeton d'accès et jeton de rafraîchissement.</a:t>
            </a:r>
          </a:p>
          <a:p>
            <a:pPr>
              <a:lnSpc>
                <a:spcPct val="122000"/>
              </a:lnSpc>
              <a:spcAft>
                <a:spcPts val="1500"/>
              </a:spcAft>
            </a:pPr>
            <a:r>
              <a:rPr sz="1500" b="1">
                <a:solidFill>
                  <a:srgbClr val="0F1B2D"/>
                </a:solidFill>
                <a:latin typeface="Segoe UI"/>
              </a:rPr>
              <a:t>Autorisation. </a:t>
            </a:r>
            <a:r>
              <a:rPr sz="1500">
                <a:solidFill>
                  <a:srgbClr val="1F2A37"/>
                </a:solidFill>
                <a:latin typeface="Segoe UI"/>
              </a:rPr>
              <a:t>@PreAuthorize sur chaque endpoint sensible, évalué par Spring Security.</a:t>
            </a:r>
          </a:p>
          <a:p>
            <a:pPr>
              <a:lnSpc>
                <a:spcPct val="122000"/>
              </a:lnSpc>
              <a:spcAft>
                <a:spcPts val="1500"/>
              </a:spcAft>
            </a:pPr>
            <a:r>
              <a:rPr sz="1500" b="1">
                <a:solidFill>
                  <a:srgbClr val="0F1B2D"/>
                </a:solidFill>
                <a:latin typeface="Segoe UI"/>
              </a:rPr>
              <a:t>Point clé. </a:t>
            </a:r>
            <a:r>
              <a:rPr sz="1500">
                <a:solidFill>
                  <a:srgbClr val="1F2A37"/>
                </a:solidFill>
                <a:latin typeface="Segoe UI"/>
              </a:rPr>
              <a:t>Le rôle inscrit dans le jeton n'est jamais utilisé pour autoriser. Les droits sont relus depuis la base à chaque requête : un mandat retiré prend effet immédiatement, sans attendre l'expiration du jeton.</a:t>
            </a:r>
          </a:p>
          <a:p>
            <a:pPr>
              <a:lnSpc>
                <a:spcPct val="122000"/>
              </a:lnSpc>
              <a:spcAft>
                <a:spcPts val="1500"/>
              </a:spcAft>
            </a:pPr>
            <a:r>
              <a:rPr sz="1500" b="1">
                <a:solidFill>
                  <a:srgbClr val="0F1B2D"/>
                </a:solidFill>
                <a:latin typeface="Segoe UI"/>
              </a:rPr>
              <a:t>Vérification. </a:t>
            </a:r>
            <a:r>
              <a:rPr sz="1500">
                <a:solidFill>
                  <a:srgbClr val="1F2A37"/>
                </a:solidFill>
                <a:latin typeface="Segoe UI"/>
              </a:rPr>
              <a:t>9 tests d'intégration parcourent la matrice rôle par rôle, avec le contexte de sécurité réel.</a:t>
            </a:r>
          </a:p>
        </p:txBody>
      </p:sp>
      <p:sp>
        <p:nvSpPr>
          <p:cNvPr id="6" name="Rectangle 5"/>
          <p:cNvSpPr/>
          <p:nvPr/>
        </p:nvSpPr>
        <p:spPr>
          <a:xfrm>
            <a:off x="6291072" y="1883664"/>
            <a:ext cx="5029200" cy="2286000"/>
          </a:xfrm>
          <a:prstGeom prst="rect">
            <a:avLst/>
          </a:prstGeom>
          <a:solidFill>
            <a:srgbClr val="F3F6FA"/>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65392" y="2103120"/>
            <a:ext cx="4480560" cy="274320"/>
          </a:xfrm>
          <a:prstGeom prst="rect">
            <a:avLst/>
          </a:prstGeom>
          <a:noFill/>
        </p:spPr>
        <p:txBody>
          <a:bodyPr wrap="square" lIns="0" rIns="0" tIns="0" bIns="0" anchor="t">
            <a:spAutoFit/>
          </a:bodyPr>
          <a:lstStyle/>
          <a:p>
            <a:pPr algn="l">
              <a:lnSpc>
                <a:spcPct val="95000"/>
              </a:lnSpc>
              <a:spcAft>
                <a:spcPts val="0"/>
              </a:spcAft>
            </a:pPr>
            <a:r>
              <a:rPr sz="1100" b="1">
                <a:solidFill>
                  <a:srgbClr val="3B6EA5"/>
                </a:solidFill>
                <a:latin typeface="Segoe UI"/>
              </a:rPr>
              <a:t>TROIS ASYMÉTRIES ASSUMÉES</a:t>
            </a:r>
          </a:p>
        </p:txBody>
      </p:sp>
      <p:sp>
        <p:nvSpPr>
          <p:cNvPr id="8" name="TextBox 7"/>
          <p:cNvSpPr txBox="1"/>
          <p:nvPr/>
        </p:nvSpPr>
        <p:spPr>
          <a:xfrm>
            <a:off x="6565392" y="2487168"/>
            <a:ext cx="4480560" cy="365760"/>
          </a:xfrm>
          <a:prstGeom prst="rect">
            <a:avLst/>
          </a:prstGeom>
          <a:noFill/>
        </p:spPr>
        <p:txBody>
          <a:bodyPr wrap="square" lIns="0" rIns="0" tIns="0" bIns="0">
            <a:spAutoFit/>
          </a:bodyPr>
          <a:lstStyle/>
          <a:p>
            <a:pPr>
              <a:lnSpc>
                <a:spcPct val="122000"/>
              </a:lnSpc>
              <a:spcAft>
                <a:spcPts val="1100"/>
              </a:spcAft>
            </a:pPr>
            <a:r>
              <a:rPr sz="1250">
                <a:solidFill>
                  <a:srgbClr val="1F2A37"/>
                </a:solidFill>
                <a:latin typeface="Segoe UI"/>
              </a:rPr>
              <a:t>Décider d'une adhésion : le directeur seul — pas l'administrateur système.</a:t>
            </a:r>
          </a:p>
          <a:p>
            <a:pPr>
              <a:lnSpc>
                <a:spcPct val="122000"/>
              </a:lnSpc>
              <a:spcAft>
                <a:spcPts val="1100"/>
              </a:spcAft>
            </a:pPr>
            <a:r>
              <a:rPr sz="1250">
                <a:solidFill>
                  <a:srgbClr val="1F2A37"/>
                </a:solidFill>
                <a:latin typeface="Segoe UI"/>
              </a:rPr>
              <a:t>Valider du matériel : direction et vice-direction — pas l'administrateur système.</a:t>
            </a:r>
          </a:p>
          <a:p>
            <a:pPr>
              <a:lnSpc>
                <a:spcPct val="122000"/>
              </a:lnSpc>
              <a:spcAft>
                <a:spcPts val="1100"/>
              </a:spcAft>
            </a:pPr>
            <a:r>
              <a:rPr sz="1250">
                <a:solidFill>
                  <a:srgbClr val="1F2A37"/>
                </a:solidFill>
                <a:latin typeface="Segoe UI"/>
              </a:rPr>
              <a:t>Créer un compte ou modifier l'identité du laboratoire : l'administrateur seul.</a:t>
            </a:r>
          </a:p>
        </p:txBody>
      </p:sp>
      <p:sp>
        <p:nvSpPr>
          <p:cNvPr id="9" name="TextBox 8"/>
          <p:cNvSpPr txBox="1"/>
          <p:nvPr/>
        </p:nvSpPr>
        <p:spPr>
          <a:xfrm>
            <a:off x="6565392" y="4352544"/>
            <a:ext cx="4480560" cy="640080"/>
          </a:xfrm>
          <a:prstGeom prst="rect">
            <a:avLst/>
          </a:prstGeom>
          <a:noFill/>
        </p:spPr>
        <p:txBody>
          <a:bodyPr wrap="square" lIns="0" rIns="0" tIns="0" bIns="0" anchor="t">
            <a:spAutoFit/>
          </a:bodyPr>
          <a:lstStyle/>
          <a:p>
            <a:pPr algn="l">
              <a:lnSpc>
                <a:spcPct val="122000"/>
              </a:lnSpc>
              <a:spcAft>
                <a:spcPts val="0"/>
              </a:spcAft>
            </a:pPr>
            <a:r>
              <a:rPr sz="1250" b="0">
                <a:solidFill>
                  <a:srgbClr val="64748B"/>
                </a:solidFill>
                <a:latin typeface="Segoe UI"/>
              </a:rPr>
              <a:t>Le pouvoir technique et le pouvoir institutionnel sont deux choses distinctes : la matrice traduit le cahier des charges, pas la hiérarchie technique.</a:t>
            </a:r>
          </a:p>
        </p:txBody>
      </p:sp>
      <p:sp>
        <p:nvSpPr>
          <p:cNvPr id="10" name="TextBox 9"/>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11" name="TextBox 10"/>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05 — DÉMONSTRATION</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Portail public</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97204" y="1637284"/>
            <a:ext cx="7295895" cy="4607560"/>
          </a:xfrm>
          <a:prstGeom prst="rect">
            <a:avLst/>
          </a:prstGeom>
          <a:solidFill>
            <a:srgbClr val="FFFFFF"/>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1-portail-public.png"/>
          <p:cNvPicPr>
            <a:picLocks noChangeAspect="1"/>
          </p:cNvPicPr>
          <p:nvPr/>
        </p:nvPicPr>
        <p:blipFill>
          <a:blip r:embed="rId2"/>
          <a:stretch>
            <a:fillRect/>
          </a:stretch>
        </p:blipFill>
        <p:spPr>
          <a:xfrm>
            <a:off x="1060704" y="1700784"/>
            <a:ext cx="7168895" cy="4480560"/>
          </a:xfrm>
          <a:prstGeom prst="rect">
            <a:avLst/>
          </a:prstGeom>
        </p:spPr>
      </p:pic>
      <p:sp>
        <p:nvSpPr>
          <p:cNvPr id="7" name="Rectangle 6"/>
          <p:cNvSpPr/>
          <p:nvPr/>
        </p:nvSpPr>
        <p:spPr>
          <a:xfrm>
            <a:off x="8897111" y="2103120"/>
            <a:ext cx="40640" cy="45720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98279" y="2139696"/>
            <a:ext cx="2377440" cy="274320"/>
          </a:xfrm>
          <a:prstGeom prst="rect">
            <a:avLst/>
          </a:prstGeom>
          <a:noFill/>
        </p:spPr>
        <p:txBody>
          <a:bodyPr wrap="square" lIns="0" rIns="0" tIns="0" bIns="0" anchor="t">
            <a:spAutoFit/>
          </a:bodyPr>
          <a:lstStyle/>
          <a:p>
            <a:pPr algn="l">
              <a:lnSpc>
                <a:spcPct val="95000"/>
              </a:lnSpc>
              <a:spcAft>
                <a:spcPts val="0"/>
              </a:spcAft>
            </a:pPr>
            <a:r>
              <a:rPr sz="1100" b="1">
                <a:solidFill>
                  <a:srgbClr val="3B6EA5"/>
                </a:solidFill>
                <a:latin typeface="Segoe UI"/>
              </a:rPr>
              <a:t>ACCÈS LIBRE</a:t>
            </a:r>
          </a:p>
        </p:txBody>
      </p:sp>
      <p:sp>
        <p:nvSpPr>
          <p:cNvPr id="9" name="TextBox 8"/>
          <p:cNvSpPr txBox="1"/>
          <p:nvPr/>
        </p:nvSpPr>
        <p:spPr>
          <a:xfrm>
            <a:off x="9098279" y="2505456"/>
            <a:ext cx="2377440" cy="3072384"/>
          </a:xfrm>
          <a:prstGeom prst="rect">
            <a:avLst/>
          </a:prstGeom>
          <a:noFill/>
        </p:spPr>
        <p:txBody>
          <a:bodyPr wrap="square" lIns="0" rIns="0" tIns="0" bIns="0" anchor="t">
            <a:spAutoFit/>
          </a:bodyPr>
          <a:lstStyle/>
          <a:p>
            <a:pPr algn="l">
              <a:lnSpc>
                <a:spcPct val="130000"/>
              </a:lnSpc>
              <a:spcAft>
                <a:spcPts val="0"/>
              </a:spcAft>
            </a:pPr>
            <a:r>
              <a:rPr sz="1350" b="0">
                <a:solidFill>
                  <a:srgbClr val="1F2A37"/>
                </a:solidFill>
                <a:latin typeface="Segoe UI"/>
              </a:rPr>
              <a:t>Présentation du laboratoire, axes de recherche, équipes, événements et publications — sans authentification.
C'est aussi par là qu'une candidature d'adhésion est déposée.</a:t>
            </a:r>
          </a:p>
        </p:txBody>
      </p:sp>
      <p:sp>
        <p:nvSpPr>
          <p:cNvPr id="10" name="TextBox 9"/>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11" name="TextBox 10"/>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05 — DÉMONSTRATION</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Tableau de bord de la direction</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97204" y="1637284"/>
            <a:ext cx="7295895" cy="4607560"/>
          </a:xfrm>
          <a:prstGeom prst="rect">
            <a:avLst/>
          </a:prstGeom>
          <a:solidFill>
            <a:srgbClr val="FFFFFF"/>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4-dashboard.png"/>
          <p:cNvPicPr>
            <a:picLocks noChangeAspect="1"/>
          </p:cNvPicPr>
          <p:nvPr/>
        </p:nvPicPr>
        <p:blipFill>
          <a:blip r:embed="rId2"/>
          <a:stretch>
            <a:fillRect/>
          </a:stretch>
        </p:blipFill>
        <p:spPr>
          <a:xfrm>
            <a:off x="1060704" y="1700784"/>
            <a:ext cx="7168895" cy="4480560"/>
          </a:xfrm>
          <a:prstGeom prst="rect">
            <a:avLst/>
          </a:prstGeom>
        </p:spPr>
      </p:pic>
      <p:sp>
        <p:nvSpPr>
          <p:cNvPr id="7" name="Rectangle 6"/>
          <p:cNvSpPr/>
          <p:nvPr/>
        </p:nvSpPr>
        <p:spPr>
          <a:xfrm>
            <a:off x="8897111" y="2103120"/>
            <a:ext cx="40640" cy="45720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98279" y="2139696"/>
            <a:ext cx="2377440" cy="274320"/>
          </a:xfrm>
          <a:prstGeom prst="rect">
            <a:avLst/>
          </a:prstGeom>
          <a:noFill/>
        </p:spPr>
        <p:txBody>
          <a:bodyPr wrap="square" lIns="0" rIns="0" tIns="0" bIns="0" anchor="t">
            <a:spAutoFit/>
          </a:bodyPr>
          <a:lstStyle/>
          <a:p>
            <a:pPr algn="l">
              <a:lnSpc>
                <a:spcPct val="95000"/>
              </a:lnSpc>
              <a:spcAft>
                <a:spcPts val="0"/>
              </a:spcAft>
            </a:pPr>
            <a:r>
              <a:rPr sz="1100" b="1">
                <a:solidFill>
                  <a:srgbClr val="3B6EA5"/>
                </a:solidFill>
                <a:latin typeface="Segoe UI"/>
              </a:rPr>
              <a:t>VUE D'ENSEMBLE</a:t>
            </a:r>
          </a:p>
        </p:txBody>
      </p:sp>
      <p:sp>
        <p:nvSpPr>
          <p:cNvPr id="9" name="TextBox 8"/>
          <p:cNvSpPr txBox="1"/>
          <p:nvPr/>
        </p:nvSpPr>
        <p:spPr>
          <a:xfrm>
            <a:off x="9098279" y="2505456"/>
            <a:ext cx="2377440" cy="3072384"/>
          </a:xfrm>
          <a:prstGeom prst="rect">
            <a:avLst/>
          </a:prstGeom>
          <a:noFill/>
        </p:spPr>
        <p:txBody>
          <a:bodyPr wrap="square" lIns="0" rIns="0" tIns="0" bIns="0" anchor="t">
            <a:spAutoFit/>
          </a:bodyPr>
          <a:lstStyle/>
          <a:p>
            <a:pPr algn="l">
              <a:lnSpc>
                <a:spcPct val="130000"/>
              </a:lnSpc>
              <a:spcAft>
                <a:spcPts val="0"/>
              </a:spcAft>
            </a:pPr>
            <a:r>
              <a:rPr sz="1350" b="0">
                <a:solidFill>
                  <a:srgbClr val="1F2A37"/>
                </a:solidFill>
                <a:latin typeface="Segoe UI"/>
              </a:rPr>
              <a:t>Volumétrie scientifique et administrative du laboratoire.
L'encart « Gouvernance en exercice » est déduit des mandats actifs, jamais d'un rôle stocké.</a:t>
            </a:r>
          </a:p>
        </p:txBody>
      </p:sp>
      <p:sp>
        <p:nvSpPr>
          <p:cNvPr id="10" name="TextBox 9"/>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11" name="TextBox 10"/>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05 — DÉMONSTRATION</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Gouvernance : l'organigramme est déduit</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97204" y="1637284"/>
            <a:ext cx="7295895" cy="4607560"/>
          </a:xfrm>
          <a:prstGeom prst="rect">
            <a:avLst/>
          </a:prstGeom>
          <a:solidFill>
            <a:srgbClr val="FFFFFF"/>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9-gouvernance-structure.png"/>
          <p:cNvPicPr>
            <a:picLocks noChangeAspect="1"/>
          </p:cNvPicPr>
          <p:nvPr/>
        </p:nvPicPr>
        <p:blipFill>
          <a:blip r:embed="rId2"/>
          <a:stretch>
            <a:fillRect/>
          </a:stretch>
        </p:blipFill>
        <p:spPr>
          <a:xfrm>
            <a:off x="1060704" y="1700784"/>
            <a:ext cx="7168895" cy="4480560"/>
          </a:xfrm>
          <a:prstGeom prst="rect">
            <a:avLst/>
          </a:prstGeom>
        </p:spPr>
      </p:pic>
      <p:sp>
        <p:nvSpPr>
          <p:cNvPr id="7" name="Rectangle 6"/>
          <p:cNvSpPr/>
          <p:nvPr/>
        </p:nvSpPr>
        <p:spPr>
          <a:xfrm>
            <a:off x="8897111" y="2103120"/>
            <a:ext cx="40640" cy="45720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98279" y="2139696"/>
            <a:ext cx="2377440" cy="274320"/>
          </a:xfrm>
          <a:prstGeom prst="rect">
            <a:avLst/>
          </a:prstGeom>
          <a:noFill/>
        </p:spPr>
        <p:txBody>
          <a:bodyPr wrap="square" lIns="0" rIns="0" tIns="0" bIns="0" anchor="t">
            <a:spAutoFit/>
          </a:bodyPr>
          <a:lstStyle/>
          <a:p>
            <a:pPr algn="l">
              <a:lnSpc>
                <a:spcPct val="95000"/>
              </a:lnSpc>
              <a:spcAft>
                <a:spcPts val="0"/>
              </a:spcAft>
            </a:pPr>
            <a:r>
              <a:rPr sz="1100" b="1">
                <a:solidFill>
                  <a:srgbClr val="3B6EA5"/>
                </a:solidFill>
                <a:latin typeface="Segoe UI"/>
              </a:rPr>
              <a:t>POSTE VACANT</a:t>
            </a:r>
          </a:p>
        </p:txBody>
      </p:sp>
      <p:sp>
        <p:nvSpPr>
          <p:cNvPr id="9" name="TextBox 8"/>
          <p:cNvSpPr txBox="1"/>
          <p:nvPr/>
        </p:nvSpPr>
        <p:spPr>
          <a:xfrm>
            <a:off x="9098279" y="2505456"/>
            <a:ext cx="2377440" cy="3072384"/>
          </a:xfrm>
          <a:prstGeom prst="rect">
            <a:avLst/>
          </a:prstGeom>
          <a:noFill/>
        </p:spPr>
        <p:txBody>
          <a:bodyPr wrap="square" lIns="0" rIns="0" tIns="0" bIns="0" anchor="t">
            <a:spAutoFit/>
          </a:bodyPr>
          <a:lstStyle/>
          <a:p>
            <a:pPr algn="l">
              <a:lnSpc>
                <a:spcPct val="130000"/>
              </a:lnSpc>
              <a:spcAft>
                <a:spcPts val="0"/>
              </a:spcAft>
            </a:pPr>
            <a:r>
              <a:rPr sz="1350" b="0">
                <a:solidFill>
                  <a:srgbClr val="1F2A37"/>
                </a:solidFill>
                <a:latin typeface="Segoe UI"/>
              </a:rPr>
              <a:t>Un poste sans titulaire est explicitement présenté comme vacant plutôt que masqué.
Ici la direction, dont le titulaire a été archivé : son mandat a été clôturé automatiquement.</a:t>
            </a:r>
          </a:p>
        </p:txBody>
      </p:sp>
      <p:sp>
        <p:nvSpPr>
          <p:cNvPr id="10" name="TextBox 9"/>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11" name="TextBox 10"/>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05 — DÉMONSTRATION</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Séparation des rôles : compte doctorant</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97204" y="1637284"/>
            <a:ext cx="7295895" cy="4607560"/>
          </a:xfrm>
          <a:prstGeom prst="rect">
            <a:avLst/>
          </a:prstGeom>
          <a:solidFill>
            <a:srgbClr val="FFFFFF"/>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24-sidebar-doctorant.png"/>
          <p:cNvPicPr>
            <a:picLocks noChangeAspect="1"/>
          </p:cNvPicPr>
          <p:nvPr/>
        </p:nvPicPr>
        <p:blipFill>
          <a:blip r:embed="rId2"/>
          <a:stretch>
            <a:fillRect/>
          </a:stretch>
        </p:blipFill>
        <p:spPr>
          <a:xfrm>
            <a:off x="1060704" y="1700784"/>
            <a:ext cx="7168895" cy="4480560"/>
          </a:xfrm>
          <a:prstGeom prst="rect">
            <a:avLst/>
          </a:prstGeom>
        </p:spPr>
      </p:pic>
      <p:sp>
        <p:nvSpPr>
          <p:cNvPr id="7" name="Rectangle 6"/>
          <p:cNvSpPr/>
          <p:nvPr/>
        </p:nvSpPr>
        <p:spPr>
          <a:xfrm>
            <a:off x="8897111" y="2103120"/>
            <a:ext cx="40640" cy="45720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98279" y="2139696"/>
            <a:ext cx="2377440" cy="274320"/>
          </a:xfrm>
          <a:prstGeom prst="rect">
            <a:avLst/>
          </a:prstGeom>
          <a:noFill/>
        </p:spPr>
        <p:txBody>
          <a:bodyPr wrap="square" lIns="0" rIns="0" tIns="0" bIns="0" anchor="t">
            <a:spAutoFit/>
          </a:bodyPr>
          <a:lstStyle/>
          <a:p>
            <a:pPr algn="l">
              <a:lnSpc>
                <a:spcPct val="95000"/>
              </a:lnSpc>
              <a:spcAft>
                <a:spcPts val="0"/>
              </a:spcAft>
            </a:pPr>
            <a:r>
              <a:rPr sz="1100" b="1">
                <a:solidFill>
                  <a:srgbClr val="3B6EA5"/>
                </a:solidFill>
                <a:latin typeface="Segoe UI"/>
              </a:rPr>
              <a:t>SIX MODULES</a:t>
            </a:r>
          </a:p>
        </p:txBody>
      </p:sp>
      <p:sp>
        <p:nvSpPr>
          <p:cNvPr id="9" name="TextBox 8"/>
          <p:cNvSpPr txBox="1"/>
          <p:nvPr/>
        </p:nvSpPr>
        <p:spPr>
          <a:xfrm>
            <a:off x="9098279" y="2505456"/>
            <a:ext cx="2377440" cy="3072384"/>
          </a:xfrm>
          <a:prstGeom prst="rect">
            <a:avLst/>
          </a:prstGeom>
          <a:noFill/>
        </p:spPr>
        <p:txBody>
          <a:bodyPr wrap="square" lIns="0" rIns="0" tIns="0" bIns="0" anchor="t">
            <a:spAutoFit/>
          </a:bodyPr>
          <a:lstStyle/>
          <a:p>
            <a:pPr algn="l">
              <a:lnSpc>
                <a:spcPct val="130000"/>
              </a:lnSpc>
              <a:spcAft>
                <a:spcPts val="0"/>
              </a:spcAft>
            </a:pPr>
            <a:r>
              <a:rPr sz="1350" b="0">
                <a:solidFill>
                  <a:srgbClr val="1F2A37"/>
                </a:solidFill>
                <a:latin typeface="Segoe UI"/>
              </a:rPr>
              <a:t>La navigation d'un doctorant se limite à six modules.
Les modules internes ne sont pas grisés : ils sont absents, et les routes correspondantes sont fermées côté serveur.</a:t>
            </a:r>
          </a:p>
        </p:txBody>
      </p:sp>
      <p:sp>
        <p:nvSpPr>
          <p:cNvPr id="10" name="TextBox 9"/>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11" name="TextBox 10"/>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06 — VALIDATION</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55 tests automatisés, aucun échec</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883664"/>
            <a:ext cx="8229600" cy="42976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2002536"/>
            <a:ext cx="3108960" cy="274320"/>
          </a:xfrm>
          <a:prstGeom prst="rect">
            <a:avLst/>
          </a:prstGeom>
          <a:noFill/>
        </p:spPr>
        <p:txBody>
          <a:bodyPr wrap="square" lIns="0" rIns="0" tIns="0" bIns="0" anchor="t">
            <a:spAutoFit/>
          </a:bodyPr>
          <a:lstStyle/>
          <a:p>
            <a:pPr algn="l">
              <a:lnSpc>
                <a:spcPct val="95000"/>
              </a:lnSpc>
              <a:spcAft>
                <a:spcPts val="0"/>
              </a:spcAft>
            </a:pPr>
            <a:r>
              <a:rPr sz="1050" b="1">
                <a:solidFill>
                  <a:srgbClr val="8FB0D0"/>
                </a:solidFill>
                <a:latin typeface="Segoe UI"/>
              </a:rPr>
              <a:t>SUITE DE TESTS</a:t>
            </a:r>
          </a:p>
        </p:txBody>
      </p:sp>
      <p:sp>
        <p:nvSpPr>
          <p:cNvPr id="7" name="TextBox 6"/>
          <p:cNvSpPr txBox="1"/>
          <p:nvPr/>
        </p:nvSpPr>
        <p:spPr>
          <a:xfrm>
            <a:off x="4279392" y="2002536"/>
            <a:ext cx="822960" cy="274320"/>
          </a:xfrm>
          <a:prstGeom prst="rect">
            <a:avLst/>
          </a:prstGeom>
          <a:noFill/>
        </p:spPr>
        <p:txBody>
          <a:bodyPr wrap="square" lIns="0" rIns="0" tIns="0" bIns="0" anchor="t">
            <a:spAutoFit/>
          </a:bodyPr>
          <a:lstStyle/>
          <a:p>
            <a:pPr algn="l">
              <a:lnSpc>
                <a:spcPct val="95000"/>
              </a:lnSpc>
              <a:spcAft>
                <a:spcPts val="0"/>
              </a:spcAft>
            </a:pPr>
            <a:r>
              <a:rPr sz="1050" b="1">
                <a:solidFill>
                  <a:srgbClr val="8FB0D0"/>
                </a:solidFill>
                <a:latin typeface="Segoe UI"/>
              </a:rPr>
              <a:t>TESTS</a:t>
            </a:r>
          </a:p>
        </p:txBody>
      </p:sp>
      <p:sp>
        <p:nvSpPr>
          <p:cNvPr id="8" name="TextBox 7"/>
          <p:cNvSpPr txBox="1"/>
          <p:nvPr/>
        </p:nvSpPr>
        <p:spPr>
          <a:xfrm>
            <a:off x="5193792" y="2002536"/>
            <a:ext cx="3474720" cy="274320"/>
          </a:xfrm>
          <a:prstGeom prst="rect">
            <a:avLst/>
          </a:prstGeom>
          <a:noFill/>
        </p:spPr>
        <p:txBody>
          <a:bodyPr wrap="square" lIns="0" rIns="0" tIns="0" bIns="0" anchor="t">
            <a:spAutoFit/>
          </a:bodyPr>
          <a:lstStyle/>
          <a:p>
            <a:pPr algn="l">
              <a:lnSpc>
                <a:spcPct val="95000"/>
              </a:lnSpc>
              <a:spcAft>
                <a:spcPts val="0"/>
              </a:spcAft>
            </a:pPr>
            <a:r>
              <a:rPr sz="1050" b="1">
                <a:solidFill>
                  <a:srgbClr val="8FB0D0"/>
                </a:solidFill>
                <a:latin typeface="Segoe UI"/>
              </a:rPr>
              <a:t>RÈGLE VERROUILLÉE</a:t>
            </a:r>
          </a:p>
        </p:txBody>
      </p:sp>
      <p:sp>
        <p:nvSpPr>
          <p:cNvPr id="9" name="Rectangle 8"/>
          <p:cNvSpPr/>
          <p:nvPr/>
        </p:nvSpPr>
        <p:spPr>
          <a:xfrm>
            <a:off x="713232" y="2313432"/>
            <a:ext cx="8229600" cy="4297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423160"/>
            <a:ext cx="3200400" cy="274320"/>
          </a:xfrm>
          <a:prstGeom prst="rect">
            <a:avLst/>
          </a:prstGeom>
          <a:noFill/>
        </p:spPr>
        <p:txBody>
          <a:bodyPr wrap="square" lIns="0" rIns="0" tIns="0" bIns="0" anchor="t">
            <a:spAutoFit/>
          </a:bodyPr>
          <a:lstStyle/>
          <a:p>
            <a:pPr algn="l">
              <a:lnSpc>
                <a:spcPct val="95000"/>
              </a:lnSpc>
              <a:spcAft>
                <a:spcPts val="0"/>
              </a:spcAft>
            </a:pPr>
            <a:r>
              <a:rPr sz="1200" b="0">
                <a:solidFill>
                  <a:srgbClr val="0F1B2D"/>
                </a:solidFill>
                <a:latin typeface="Consolas"/>
              </a:rPr>
              <a:t>UserRoleSyncServiceTest</a:t>
            </a:r>
          </a:p>
        </p:txBody>
      </p:sp>
      <p:sp>
        <p:nvSpPr>
          <p:cNvPr id="11" name="TextBox 10"/>
          <p:cNvSpPr txBox="1"/>
          <p:nvPr/>
        </p:nvSpPr>
        <p:spPr>
          <a:xfrm>
            <a:off x="4279392" y="2423160"/>
            <a:ext cx="822960" cy="274320"/>
          </a:xfrm>
          <a:prstGeom prst="rect">
            <a:avLst/>
          </a:prstGeom>
          <a:noFill/>
        </p:spPr>
        <p:txBody>
          <a:bodyPr wrap="square" lIns="0" rIns="0" tIns="0" bIns="0" anchor="t">
            <a:spAutoFit/>
          </a:bodyPr>
          <a:lstStyle/>
          <a:p>
            <a:pPr algn="l">
              <a:lnSpc>
                <a:spcPct val="95000"/>
              </a:lnSpc>
              <a:spcAft>
                <a:spcPts val="0"/>
              </a:spcAft>
            </a:pPr>
            <a:r>
              <a:rPr sz="1250" b="1">
                <a:solidFill>
                  <a:srgbClr val="3B6EA5"/>
                </a:solidFill>
                <a:latin typeface="Segoe UI"/>
              </a:rPr>
              <a:t>17</a:t>
            </a:r>
          </a:p>
        </p:txBody>
      </p:sp>
      <p:sp>
        <p:nvSpPr>
          <p:cNvPr id="12" name="TextBox 11"/>
          <p:cNvSpPr txBox="1"/>
          <p:nvPr/>
        </p:nvSpPr>
        <p:spPr>
          <a:xfrm>
            <a:off x="5193792" y="2423160"/>
            <a:ext cx="3566160" cy="274320"/>
          </a:xfrm>
          <a:prstGeom prst="rect">
            <a:avLst/>
          </a:prstGeom>
          <a:noFill/>
        </p:spPr>
        <p:txBody>
          <a:bodyPr wrap="square" lIns="0" rIns="0" tIns="0" bIns="0" anchor="t">
            <a:spAutoFit/>
          </a:bodyPr>
          <a:lstStyle/>
          <a:p>
            <a:pPr algn="l">
              <a:lnSpc>
                <a:spcPct val="95000"/>
              </a:lnSpc>
              <a:spcAft>
                <a:spcPts val="0"/>
              </a:spcAft>
            </a:pPr>
            <a:r>
              <a:rPr sz="1200" b="0">
                <a:solidFill>
                  <a:srgbClr val="1F2A37"/>
                </a:solidFill>
                <a:latin typeface="Segoe UI"/>
              </a:rPr>
              <a:t>Dérivation statut / rôle / mandat</a:t>
            </a:r>
          </a:p>
        </p:txBody>
      </p:sp>
      <p:sp>
        <p:nvSpPr>
          <p:cNvPr id="13" name="TextBox 12"/>
          <p:cNvSpPr txBox="1"/>
          <p:nvPr/>
        </p:nvSpPr>
        <p:spPr>
          <a:xfrm>
            <a:off x="987552" y="2852928"/>
            <a:ext cx="3200400" cy="274320"/>
          </a:xfrm>
          <a:prstGeom prst="rect">
            <a:avLst/>
          </a:prstGeom>
          <a:noFill/>
        </p:spPr>
        <p:txBody>
          <a:bodyPr wrap="square" lIns="0" rIns="0" tIns="0" bIns="0" anchor="t">
            <a:spAutoFit/>
          </a:bodyPr>
          <a:lstStyle/>
          <a:p>
            <a:pPr algn="l">
              <a:lnSpc>
                <a:spcPct val="95000"/>
              </a:lnSpc>
              <a:spcAft>
                <a:spcPts val="0"/>
              </a:spcAft>
            </a:pPr>
            <a:r>
              <a:rPr sz="1200" b="0">
                <a:solidFill>
                  <a:srgbClr val="0F1B2D"/>
                </a:solidFill>
                <a:latin typeface="Consolas"/>
              </a:rPr>
              <a:t>AuthorizationMatrixTest</a:t>
            </a:r>
          </a:p>
        </p:txBody>
      </p:sp>
      <p:sp>
        <p:nvSpPr>
          <p:cNvPr id="14" name="TextBox 13"/>
          <p:cNvSpPr txBox="1"/>
          <p:nvPr/>
        </p:nvSpPr>
        <p:spPr>
          <a:xfrm>
            <a:off x="4279392" y="2852928"/>
            <a:ext cx="822960" cy="274320"/>
          </a:xfrm>
          <a:prstGeom prst="rect">
            <a:avLst/>
          </a:prstGeom>
          <a:noFill/>
        </p:spPr>
        <p:txBody>
          <a:bodyPr wrap="square" lIns="0" rIns="0" tIns="0" bIns="0" anchor="t">
            <a:spAutoFit/>
          </a:bodyPr>
          <a:lstStyle/>
          <a:p>
            <a:pPr algn="l">
              <a:lnSpc>
                <a:spcPct val="95000"/>
              </a:lnSpc>
              <a:spcAft>
                <a:spcPts val="0"/>
              </a:spcAft>
            </a:pPr>
            <a:r>
              <a:rPr sz="1250" b="1">
                <a:solidFill>
                  <a:srgbClr val="3B6EA5"/>
                </a:solidFill>
                <a:latin typeface="Segoe UI"/>
              </a:rPr>
              <a:t>9</a:t>
            </a:r>
          </a:p>
        </p:txBody>
      </p:sp>
      <p:sp>
        <p:nvSpPr>
          <p:cNvPr id="15" name="TextBox 14"/>
          <p:cNvSpPr txBox="1"/>
          <p:nvPr/>
        </p:nvSpPr>
        <p:spPr>
          <a:xfrm>
            <a:off x="5193792" y="2852928"/>
            <a:ext cx="3566160" cy="274320"/>
          </a:xfrm>
          <a:prstGeom prst="rect">
            <a:avLst/>
          </a:prstGeom>
          <a:noFill/>
        </p:spPr>
        <p:txBody>
          <a:bodyPr wrap="square" lIns="0" rIns="0" tIns="0" bIns="0" anchor="t">
            <a:spAutoFit/>
          </a:bodyPr>
          <a:lstStyle/>
          <a:p>
            <a:pPr algn="l">
              <a:lnSpc>
                <a:spcPct val="95000"/>
              </a:lnSpc>
              <a:spcAft>
                <a:spcPts val="0"/>
              </a:spcAft>
            </a:pPr>
            <a:r>
              <a:rPr sz="1200" b="0">
                <a:solidFill>
                  <a:srgbClr val="1F2A37"/>
                </a:solidFill>
                <a:latin typeface="Segoe UI"/>
              </a:rPr>
              <a:t>Matrice d'autorisation des neuf rôles</a:t>
            </a:r>
          </a:p>
        </p:txBody>
      </p:sp>
      <p:sp>
        <p:nvSpPr>
          <p:cNvPr id="16" name="Rectangle 15"/>
          <p:cNvSpPr/>
          <p:nvPr/>
        </p:nvSpPr>
        <p:spPr>
          <a:xfrm>
            <a:off x="713232" y="3172968"/>
            <a:ext cx="8229600" cy="4297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3282696"/>
            <a:ext cx="3200400" cy="274320"/>
          </a:xfrm>
          <a:prstGeom prst="rect">
            <a:avLst/>
          </a:prstGeom>
          <a:noFill/>
        </p:spPr>
        <p:txBody>
          <a:bodyPr wrap="square" lIns="0" rIns="0" tIns="0" bIns="0" anchor="t">
            <a:spAutoFit/>
          </a:bodyPr>
          <a:lstStyle/>
          <a:p>
            <a:pPr algn="l">
              <a:lnSpc>
                <a:spcPct val="95000"/>
              </a:lnSpc>
              <a:spcAft>
                <a:spcPts val="0"/>
              </a:spcAft>
            </a:pPr>
            <a:r>
              <a:rPr sz="1200" b="0">
                <a:solidFill>
                  <a:srgbClr val="0F1B2D"/>
                </a:solidFill>
                <a:latin typeface="Consolas"/>
              </a:rPr>
              <a:t>EquipmentServiceTest</a:t>
            </a:r>
          </a:p>
        </p:txBody>
      </p:sp>
      <p:sp>
        <p:nvSpPr>
          <p:cNvPr id="18" name="TextBox 17"/>
          <p:cNvSpPr txBox="1"/>
          <p:nvPr/>
        </p:nvSpPr>
        <p:spPr>
          <a:xfrm>
            <a:off x="4279392" y="3282696"/>
            <a:ext cx="822960" cy="274320"/>
          </a:xfrm>
          <a:prstGeom prst="rect">
            <a:avLst/>
          </a:prstGeom>
          <a:noFill/>
        </p:spPr>
        <p:txBody>
          <a:bodyPr wrap="square" lIns="0" rIns="0" tIns="0" bIns="0" anchor="t">
            <a:spAutoFit/>
          </a:bodyPr>
          <a:lstStyle/>
          <a:p>
            <a:pPr algn="l">
              <a:lnSpc>
                <a:spcPct val="95000"/>
              </a:lnSpc>
              <a:spcAft>
                <a:spcPts val="0"/>
              </a:spcAft>
            </a:pPr>
            <a:r>
              <a:rPr sz="1250" b="1">
                <a:solidFill>
                  <a:srgbClr val="3B6EA5"/>
                </a:solidFill>
                <a:latin typeface="Segoe UI"/>
              </a:rPr>
              <a:t>8</a:t>
            </a:r>
          </a:p>
        </p:txBody>
      </p:sp>
      <p:sp>
        <p:nvSpPr>
          <p:cNvPr id="19" name="TextBox 18"/>
          <p:cNvSpPr txBox="1"/>
          <p:nvPr/>
        </p:nvSpPr>
        <p:spPr>
          <a:xfrm>
            <a:off x="5193792" y="3282696"/>
            <a:ext cx="3566160" cy="274320"/>
          </a:xfrm>
          <a:prstGeom prst="rect">
            <a:avLst/>
          </a:prstGeom>
          <a:noFill/>
        </p:spPr>
        <p:txBody>
          <a:bodyPr wrap="square" lIns="0" rIns="0" tIns="0" bIns="0" anchor="t">
            <a:spAutoFit/>
          </a:bodyPr>
          <a:lstStyle/>
          <a:p>
            <a:pPr algn="l">
              <a:lnSpc>
                <a:spcPct val="95000"/>
              </a:lnSpc>
              <a:spcAft>
                <a:spcPts val="0"/>
              </a:spcAft>
            </a:pPr>
            <a:r>
              <a:rPr sz="1200" b="0">
                <a:solidFill>
                  <a:srgbClr val="1F2A37"/>
                </a:solidFill>
                <a:latin typeface="Segoe UI"/>
              </a:rPr>
              <a:t>Invariant de stock du matériel</a:t>
            </a:r>
          </a:p>
        </p:txBody>
      </p:sp>
      <p:sp>
        <p:nvSpPr>
          <p:cNvPr id="20" name="TextBox 19"/>
          <p:cNvSpPr txBox="1"/>
          <p:nvPr/>
        </p:nvSpPr>
        <p:spPr>
          <a:xfrm>
            <a:off x="987552" y="3712464"/>
            <a:ext cx="3200400" cy="274320"/>
          </a:xfrm>
          <a:prstGeom prst="rect">
            <a:avLst/>
          </a:prstGeom>
          <a:noFill/>
        </p:spPr>
        <p:txBody>
          <a:bodyPr wrap="square" lIns="0" rIns="0" tIns="0" bIns="0" anchor="t">
            <a:spAutoFit/>
          </a:bodyPr>
          <a:lstStyle/>
          <a:p>
            <a:pPr algn="l">
              <a:lnSpc>
                <a:spcPct val="95000"/>
              </a:lnSpc>
              <a:spcAft>
                <a:spcPts val="0"/>
              </a:spcAft>
            </a:pPr>
            <a:r>
              <a:rPr sz="1200" b="0">
                <a:solidFill>
                  <a:srgbClr val="0F1B2D"/>
                </a:solidFill>
                <a:latin typeface="Consolas"/>
              </a:rPr>
              <a:t>NotificationServiceTest</a:t>
            </a:r>
          </a:p>
        </p:txBody>
      </p:sp>
      <p:sp>
        <p:nvSpPr>
          <p:cNvPr id="21" name="TextBox 20"/>
          <p:cNvSpPr txBox="1"/>
          <p:nvPr/>
        </p:nvSpPr>
        <p:spPr>
          <a:xfrm>
            <a:off x="4279392" y="3712464"/>
            <a:ext cx="822960" cy="274320"/>
          </a:xfrm>
          <a:prstGeom prst="rect">
            <a:avLst/>
          </a:prstGeom>
          <a:noFill/>
        </p:spPr>
        <p:txBody>
          <a:bodyPr wrap="square" lIns="0" rIns="0" tIns="0" bIns="0" anchor="t">
            <a:spAutoFit/>
          </a:bodyPr>
          <a:lstStyle/>
          <a:p>
            <a:pPr algn="l">
              <a:lnSpc>
                <a:spcPct val="95000"/>
              </a:lnSpc>
              <a:spcAft>
                <a:spcPts val="0"/>
              </a:spcAft>
            </a:pPr>
            <a:r>
              <a:rPr sz="1250" b="1">
                <a:solidFill>
                  <a:srgbClr val="3B6EA5"/>
                </a:solidFill>
                <a:latin typeface="Segoe UI"/>
              </a:rPr>
              <a:t>5</a:t>
            </a:r>
          </a:p>
        </p:txBody>
      </p:sp>
      <p:sp>
        <p:nvSpPr>
          <p:cNvPr id="22" name="TextBox 21"/>
          <p:cNvSpPr txBox="1"/>
          <p:nvPr/>
        </p:nvSpPr>
        <p:spPr>
          <a:xfrm>
            <a:off x="5193792" y="3712464"/>
            <a:ext cx="3566160" cy="274320"/>
          </a:xfrm>
          <a:prstGeom prst="rect">
            <a:avLst/>
          </a:prstGeom>
          <a:noFill/>
        </p:spPr>
        <p:txBody>
          <a:bodyPr wrap="square" lIns="0" rIns="0" tIns="0" bIns="0" anchor="t">
            <a:spAutoFit/>
          </a:bodyPr>
          <a:lstStyle/>
          <a:p>
            <a:pPr algn="l">
              <a:lnSpc>
                <a:spcPct val="95000"/>
              </a:lnSpc>
              <a:spcAft>
                <a:spcPts val="0"/>
              </a:spcAft>
            </a:pPr>
            <a:r>
              <a:rPr sz="1200" b="0">
                <a:solidFill>
                  <a:srgbClr val="1F2A37"/>
                </a:solidFill>
                <a:latin typeface="Segoe UI"/>
              </a:rPr>
              <a:t>Ciblage dynamique des destinataires</a:t>
            </a:r>
          </a:p>
        </p:txBody>
      </p:sp>
      <p:sp>
        <p:nvSpPr>
          <p:cNvPr id="23" name="Rectangle 22"/>
          <p:cNvSpPr/>
          <p:nvPr/>
        </p:nvSpPr>
        <p:spPr>
          <a:xfrm>
            <a:off x="713232" y="4032504"/>
            <a:ext cx="8229600" cy="4297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7552" y="4142232"/>
            <a:ext cx="3200400" cy="274320"/>
          </a:xfrm>
          <a:prstGeom prst="rect">
            <a:avLst/>
          </a:prstGeom>
          <a:noFill/>
        </p:spPr>
        <p:txBody>
          <a:bodyPr wrap="square" lIns="0" rIns="0" tIns="0" bIns="0" anchor="t">
            <a:spAutoFit/>
          </a:bodyPr>
          <a:lstStyle/>
          <a:p>
            <a:pPr algn="l">
              <a:lnSpc>
                <a:spcPct val="95000"/>
              </a:lnSpc>
              <a:spcAft>
                <a:spcPts val="0"/>
              </a:spcAft>
            </a:pPr>
            <a:r>
              <a:rPr sz="1200" b="0">
                <a:solidFill>
                  <a:srgbClr val="0F1B2D"/>
                </a:solidFill>
                <a:latin typeface="Consolas"/>
              </a:rPr>
              <a:t>CustomUserDetailsTest</a:t>
            </a:r>
          </a:p>
        </p:txBody>
      </p:sp>
      <p:sp>
        <p:nvSpPr>
          <p:cNvPr id="25" name="TextBox 24"/>
          <p:cNvSpPr txBox="1"/>
          <p:nvPr/>
        </p:nvSpPr>
        <p:spPr>
          <a:xfrm>
            <a:off x="4279392" y="4142232"/>
            <a:ext cx="822960" cy="274320"/>
          </a:xfrm>
          <a:prstGeom prst="rect">
            <a:avLst/>
          </a:prstGeom>
          <a:noFill/>
        </p:spPr>
        <p:txBody>
          <a:bodyPr wrap="square" lIns="0" rIns="0" tIns="0" bIns="0" anchor="t">
            <a:spAutoFit/>
          </a:bodyPr>
          <a:lstStyle/>
          <a:p>
            <a:pPr algn="l">
              <a:lnSpc>
                <a:spcPct val="95000"/>
              </a:lnSpc>
              <a:spcAft>
                <a:spcPts val="0"/>
              </a:spcAft>
            </a:pPr>
            <a:r>
              <a:rPr sz="1250" b="1">
                <a:solidFill>
                  <a:srgbClr val="3B6EA5"/>
                </a:solidFill>
                <a:latin typeface="Segoe UI"/>
              </a:rPr>
              <a:t>5</a:t>
            </a:r>
          </a:p>
        </p:txBody>
      </p:sp>
      <p:sp>
        <p:nvSpPr>
          <p:cNvPr id="26" name="TextBox 25"/>
          <p:cNvSpPr txBox="1"/>
          <p:nvPr/>
        </p:nvSpPr>
        <p:spPr>
          <a:xfrm>
            <a:off x="5193792" y="4142232"/>
            <a:ext cx="3566160" cy="274320"/>
          </a:xfrm>
          <a:prstGeom prst="rect">
            <a:avLst/>
          </a:prstGeom>
          <a:noFill/>
        </p:spPr>
        <p:txBody>
          <a:bodyPr wrap="square" lIns="0" rIns="0" tIns="0" bIns="0" anchor="t">
            <a:spAutoFit/>
          </a:bodyPr>
          <a:lstStyle/>
          <a:p>
            <a:pPr algn="l">
              <a:lnSpc>
                <a:spcPct val="95000"/>
              </a:lnSpc>
              <a:spcAft>
                <a:spcPts val="0"/>
              </a:spcAft>
            </a:pPr>
            <a:r>
              <a:rPr sz="1200" b="0">
                <a:solidFill>
                  <a:srgbClr val="1F2A37"/>
                </a:solidFill>
                <a:latin typeface="Segoe UI"/>
              </a:rPr>
              <a:t>Gel des comptes retraités et anciens</a:t>
            </a:r>
          </a:p>
        </p:txBody>
      </p:sp>
      <p:sp>
        <p:nvSpPr>
          <p:cNvPr id="27" name="TextBox 26"/>
          <p:cNvSpPr txBox="1"/>
          <p:nvPr/>
        </p:nvSpPr>
        <p:spPr>
          <a:xfrm>
            <a:off x="987552" y="4572000"/>
            <a:ext cx="3200400" cy="274320"/>
          </a:xfrm>
          <a:prstGeom prst="rect">
            <a:avLst/>
          </a:prstGeom>
          <a:noFill/>
        </p:spPr>
        <p:txBody>
          <a:bodyPr wrap="square" lIns="0" rIns="0" tIns="0" bIns="0" anchor="t">
            <a:spAutoFit/>
          </a:bodyPr>
          <a:lstStyle/>
          <a:p>
            <a:pPr algn="l">
              <a:lnSpc>
                <a:spcPct val="95000"/>
              </a:lnSpc>
              <a:spcAft>
                <a:spcPts val="0"/>
              </a:spcAft>
            </a:pPr>
            <a:r>
              <a:rPr sz="1200" b="0">
                <a:solidFill>
                  <a:srgbClr val="0F1B2D"/>
                </a:solidFill>
                <a:latin typeface="Consolas"/>
              </a:rPr>
              <a:t>BadRequestParamTest</a:t>
            </a:r>
          </a:p>
        </p:txBody>
      </p:sp>
      <p:sp>
        <p:nvSpPr>
          <p:cNvPr id="28" name="TextBox 27"/>
          <p:cNvSpPr txBox="1"/>
          <p:nvPr/>
        </p:nvSpPr>
        <p:spPr>
          <a:xfrm>
            <a:off x="4279392" y="4572000"/>
            <a:ext cx="822960" cy="274320"/>
          </a:xfrm>
          <a:prstGeom prst="rect">
            <a:avLst/>
          </a:prstGeom>
          <a:noFill/>
        </p:spPr>
        <p:txBody>
          <a:bodyPr wrap="square" lIns="0" rIns="0" tIns="0" bIns="0" anchor="t">
            <a:spAutoFit/>
          </a:bodyPr>
          <a:lstStyle/>
          <a:p>
            <a:pPr algn="l">
              <a:lnSpc>
                <a:spcPct val="95000"/>
              </a:lnSpc>
              <a:spcAft>
                <a:spcPts val="0"/>
              </a:spcAft>
            </a:pPr>
            <a:r>
              <a:rPr sz="1250" b="1">
                <a:solidFill>
                  <a:srgbClr val="3B6EA5"/>
                </a:solidFill>
                <a:latin typeface="Segoe UI"/>
              </a:rPr>
              <a:t>4</a:t>
            </a:r>
          </a:p>
        </p:txBody>
      </p:sp>
      <p:sp>
        <p:nvSpPr>
          <p:cNvPr id="29" name="TextBox 28"/>
          <p:cNvSpPr txBox="1"/>
          <p:nvPr/>
        </p:nvSpPr>
        <p:spPr>
          <a:xfrm>
            <a:off x="5193792" y="4572000"/>
            <a:ext cx="3566160" cy="274320"/>
          </a:xfrm>
          <a:prstGeom prst="rect">
            <a:avLst/>
          </a:prstGeom>
          <a:noFill/>
        </p:spPr>
        <p:txBody>
          <a:bodyPr wrap="square" lIns="0" rIns="0" tIns="0" bIns="0" anchor="t">
            <a:spAutoFit/>
          </a:bodyPr>
          <a:lstStyle/>
          <a:p>
            <a:pPr algn="l">
              <a:lnSpc>
                <a:spcPct val="95000"/>
              </a:lnSpc>
              <a:spcAft>
                <a:spcPts val="0"/>
              </a:spcAft>
            </a:pPr>
            <a:r>
              <a:rPr sz="1200" b="0">
                <a:solidFill>
                  <a:srgbClr val="1F2A37"/>
                </a:solidFill>
                <a:latin typeface="Segoe UI"/>
              </a:rPr>
              <a:t>Validation des paramètres de requête</a:t>
            </a:r>
          </a:p>
        </p:txBody>
      </p:sp>
      <p:sp>
        <p:nvSpPr>
          <p:cNvPr id="30" name="Rectangle 29"/>
          <p:cNvSpPr/>
          <p:nvPr/>
        </p:nvSpPr>
        <p:spPr>
          <a:xfrm>
            <a:off x="713232" y="4892040"/>
            <a:ext cx="8229600" cy="4297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5001768"/>
            <a:ext cx="3200400" cy="274320"/>
          </a:xfrm>
          <a:prstGeom prst="rect">
            <a:avLst/>
          </a:prstGeom>
          <a:noFill/>
        </p:spPr>
        <p:txBody>
          <a:bodyPr wrap="square" lIns="0" rIns="0" tIns="0" bIns="0" anchor="t">
            <a:spAutoFit/>
          </a:bodyPr>
          <a:lstStyle/>
          <a:p>
            <a:pPr algn="l">
              <a:lnSpc>
                <a:spcPct val="95000"/>
              </a:lnSpc>
              <a:spcAft>
                <a:spcPts val="0"/>
              </a:spcAft>
            </a:pPr>
            <a:r>
              <a:rPr sz="1200" b="0">
                <a:solidFill>
                  <a:srgbClr val="0F1B2D"/>
                </a:solidFill>
                <a:latin typeface="Consolas"/>
              </a:rPr>
              <a:t>MemberServiceTest</a:t>
            </a:r>
          </a:p>
        </p:txBody>
      </p:sp>
      <p:sp>
        <p:nvSpPr>
          <p:cNvPr id="32" name="TextBox 31"/>
          <p:cNvSpPr txBox="1"/>
          <p:nvPr/>
        </p:nvSpPr>
        <p:spPr>
          <a:xfrm>
            <a:off x="4279392" y="5001768"/>
            <a:ext cx="822960" cy="274320"/>
          </a:xfrm>
          <a:prstGeom prst="rect">
            <a:avLst/>
          </a:prstGeom>
          <a:noFill/>
        </p:spPr>
        <p:txBody>
          <a:bodyPr wrap="square" lIns="0" rIns="0" tIns="0" bIns="0" anchor="t">
            <a:spAutoFit/>
          </a:bodyPr>
          <a:lstStyle/>
          <a:p>
            <a:pPr algn="l">
              <a:lnSpc>
                <a:spcPct val="95000"/>
              </a:lnSpc>
              <a:spcAft>
                <a:spcPts val="0"/>
              </a:spcAft>
            </a:pPr>
            <a:r>
              <a:rPr sz="1250" b="1">
                <a:solidFill>
                  <a:srgbClr val="3B6EA5"/>
                </a:solidFill>
                <a:latin typeface="Segoe UI"/>
              </a:rPr>
              <a:t>4</a:t>
            </a:r>
          </a:p>
        </p:txBody>
      </p:sp>
      <p:sp>
        <p:nvSpPr>
          <p:cNvPr id="33" name="TextBox 32"/>
          <p:cNvSpPr txBox="1"/>
          <p:nvPr/>
        </p:nvSpPr>
        <p:spPr>
          <a:xfrm>
            <a:off x="5193792" y="5001768"/>
            <a:ext cx="3566160" cy="274320"/>
          </a:xfrm>
          <a:prstGeom prst="rect">
            <a:avLst/>
          </a:prstGeom>
          <a:noFill/>
        </p:spPr>
        <p:txBody>
          <a:bodyPr wrap="square" lIns="0" rIns="0" tIns="0" bIns="0" anchor="t">
            <a:spAutoFit/>
          </a:bodyPr>
          <a:lstStyle/>
          <a:p>
            <a:pPr algn="l">
              <a:lnSpc>
                <a:spcPct val="95000"/>
              </a:lnSpc>
              <a:spcAft>
                <a:spcPts val="0"/>
              </a:spcAft>
            </a:pPr>
            <a:r>
              <a:rPr sz="1200" b="0">
                <a:solidFill>
                  <a:srgbClr val="1F2A37"/>
                </a:solidFill>
                <a:latin typeface="Segoe UI"/>
              </a:rPr>
              <a:t>Clôture des mandats à l'archivage</a:t>
            </a:r>
          </a:p>
        </p:txBody>
      </p:sp>
      <p:sp>
        <p:nvSpPr>
          <p:cNvPr id="34" name="TextBox 33"/>
          <p:cNvSpPr txBox="1"/>
          <p:nvPr/>
        </p:nvSpPr>
        <p:spPr>
          <a:xfrm>
            <a:off x="987552" y="5431536"/>
            <a:ext cx="3200400" cy="274320"/>
          </a:xfrm>
          <a:prstGeom prst="rect">
            <a:avLst/>
          </a:prstGeom>
          <a:noFill/>
        </p:spPr>
        <p:txBody>
          <a:bodyPr wrap="square" lIns="0" rIns="0" tIns="0" bIns="0" anchor="t">
            <a:spAutoFit/>
          </a:bodyPr>
          <a:lstStyle/>
          <a:p>
            <a:pPr algn="l">
              <a:lnSpc>
                <a:spcPct val="95000"/>
              </a:lnSpc>
              <a:spcAft>
                <a:spcPts val="0"/>
              </a:spcAft>
            </a:pPr>
            <a:r>
              <a:rPr sz="1200" b="0">
                <a:solidFill>
                  <a:srgbClr val="0F1B2D"/>
                </a:solidFill>
                <a:latin typeface="Consolas"/>
              </a:rPr>
              <a:t>MandateServiceTest</a:t>
            </a:r>
          </a:p>
        </p:txBody>
      </p:sp>
      <p:sp>
        <p:nvSpPr>
          <p:cNvPr id="35" name="TextBox 34"/>
          <p:cNvSpPr txBox="1"/>
          <p:nvPr/>
        </p:nvSpPr>
        <p:spPr>
          <a:xfrm>
            <a:off x="4279392" y="5431536"/>
            <a:ext cx="822960" cy="274320"/>
          </a:xfrm>
          <a:prstGeom prst="rect">
            <a:avLst/>
          </a:prstGeom>
          <a:noFill/>
        </p:spPr>
        <p:txBody>
          <a:bodyPr wrap="square" lIns="0" rIns="0" tIns="0" bIns="0" anchor="t">
            <a:spAutoFit/>
          </a:bodyPr>
          <a:lstStyle/>
          <a:p>
            <a:pPr algn="l">
              <a:lnSpc>
                <a:spcPct val="95000"/>
              </a:lnSpc>
              <a:spcAft>
                <a:spcPts val="0"/>
              </a:spcAft>
            </a:pPr>
            <a:r>
              <a:rPr sz="1250" b="1">
                <a:solidFill>
                  <a:srgbClr val="3B6EA5"/>
                </a:solidFill>
                <a:latin typeface="Segoe UI"/>
              </a:rPr>
              <a:t>3</a:t>
            </a:r>
          </a:p>
        </p:txBody>
      </p:sp>
      <p:sp>
        <p:nvSpPr>
          <p:cNvPr id="36" name="TextBox 35"/>
          <p:cNvSpPr txBox="1"/>
          <p:nvPr/>
        </p:nvSpPr>
        <p:spPr>
          <a:xfrm>
            <a:off x="5193792" y="5431536"/>
            <a:ext cx="3566160" cy="274320"/>
          </a:xfrm>
          <a:prstGeom prst="rect">
            <a:avLst/>
          </a:prstGeom>
          <a:noFill/>
        </p:spPr>
        <p:txBody>
          <a:bodyPr wrap="square" lIns="0" rIns="0" tIns="0" bIns="0" anchor="t">
            <a:spAutoFit/>
          </a:bodyPr>
          <a:lstStyle/>
          <a:p>
            <a:pPr algn="l">
              <a:lnSpc>
                <a:spcPct val="95000"/>
              </a:lnSpc>
              <a:spcAft>
                <a:spcPts val="0"/>
              </a:spcAft>
            </a:pPr>
            <a:r>
              <a:rPr sz="1200" b="0">
                <a:solidFill>
                  <a:srgbClr val="1F2A37"/>
                </a:solidFill>
                <a:latin typeface="Segoe UI"/>
              </a:rPr>
              <a:t>Exclusion des titulaires archivés</a:t>
            </a:r>
          </a:p>
        </p:txBody>
      </p:sp>
      <p:sp>
        <p:nvSpPr>
          <p:cNvPr id="37" name="Rectangle 36"/>
          <p:cNvSpPr/>
          <p:nvPr/>
        </p:nvSpPr>
        <p:spPr>
          <a:xfrm>
            <a:off x="713232" y="5751576"/>
            <a:ext cx="8229600" cy="42976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7552" y="5861304"/>
            <a:ext cx="3200400" cy="274320"/>
          </a:xfrm>
          <a:prstGeom prst="rect">
            <a:avLst/>
          </a:prstGeom>
          <a:noFill/>
        </p:spPr>
        <p:txBody>
          <a:bodyPr wrap="square" lIns="0" rIns="0" tIns="0" bIns="0" anchor="t">
            <a:spAutoFit/>
          </a:bodyPr>
          <a:lstStyle/>
          <a:p>
            <a:pPr algn="l">
              <a:lnSpc>
                <a:spcPct val="95000"/>
              </a:lnSpc>
              <a:spcAft>
                <a:spcPts val="0"/>
              </a:spcAft>
            </a:pPr>
            <a:r>
              <a:rPr sz="1250" b="1">
                <a:solidFill>
                  <a:srgbClr val="FFFFFF"/>
                </a:solidFill>
                <a:latin typeface="Segoe UI"/>
              </a:rPr>
              <a:t>Total</a:t>
            </a:r>
          </a:p>
        </p:txBody>
      </p:sp>
      <p:sp>
        <p:nvSpPr>
          <p:cNvPr id="39" name="TextBox 38"/>
          <p:cNvSpPr txBox="1"/>
          <p:nvPr/>
        </p:nvSpPr>
        <p:spPr>
          <a:xfrm>
            <a:off x="4279392" y="5861304"/>
            <a:ext cx="822960" cy="274320"/>
          </a:xfrm>
          <a:prstGeom prst="rect">
            <a:avLst/>
          </a:prstGeom>
          <a:noFill/>
        </p:spPr>
        <p:txBody>
          <a:bodyPr wrap="square" lIns="0" rIns="0" tIns="0" bIns="0" anchor="t">
            <a:spAutoFit/>
          </a:bodyPr>
          <a:lstStyle/>
          <a:p>
            <a:pPr algn="l">
              <a:lnSpc>
                <a:spcPct val="95000"/>
              </a:lnSpc>
              <a:spcAft>
                <a:spcPts val="0"/>
              </a:spcAft>
            </a:pPr>
            <a:r>
              <a:rPr sz="1250" b="1">
                <a:solidFill>
                  <a:srgbClr val="FFFFFF"/>
                </a:solidFill>
                <a:latin typeface="Segoe UI"/>
              </a:rPr>
              <a:t>55</a:t>
            </a:r>
          </a:p>
        </p:txBody>
      </p:sp>
      <p:sp>
        <p:nvSpPr>
          <p:cNvPr id="40" name="TextBox 39"/>
          <p:cNvSpPr txBox="1"/>
          <p:nvPr/>
        </p:nvSpPr>
        <p:spPr>
          <a:xfrm>
            <a:off x="5193792" y="5861304"/>
            <a:ext cx="3566160" cy="274320"/>
          </a:xfrm>
          <a:prstGeom prst="rect">
            <a:avLst/>
          </a:prstGeom>
          <a:noFill/>
        </p:spPr>
        <p:txBody>
          <a:bodyPr wrap="square" lIns="0" rIns="0" tIns="0" bIns="0" anchor="t">
            <a:spAutoFit/>
          </a:bodyPr>
          <a:lstStyle/>
          <a:p>
            <a:pPr algn="l">
              <a:lnSpc>
                <a:spcPct val="95000"/>
              </a:lnSpc>
              <a:spcAft>
                <a:spcPts val="0"/>
              </a:spcAft>
            </a:pPr>
            <a:r>
              <a:rPr sz="1200" b="0">
                <a:solidFill>
                  <a:srgbClr val="8FB0D0"/>
                </a:solidFill>
                <a:latin typeface="Segoe UI"/>
              </a:rPr>
              <a:t>0 échec, 0 erreur, 0 ignoré</a:t>
            </a:r>
          </a:p>
        </p:txBody>
      </p:sp>
      <p:sp>
        <p:nvSpPr>
          <p:cNvPr id="41" name="Rectangle 40"/>
          <p:cNvSpPr/>
          <p:nvPr/>
        </p:nvSpPr>
        <p:spPr>
          <a:xfrm>
            <a:off x="9308592" y="1883664"/>
            <a:ext cx="2194560" cy="1920240"/>
          </a:xfrm>
          <a:prstGeom prst="rect">
            <a:avLst/>
          </a:prstGeom>
          <a:solidFill>
            <a:srgbClr val="F3F6FA"/>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08592" y="2176272"/>
            <a:ext cx="2194560" cy="731520"/>
          </a:xfrm>
          <a:prstGeom prst="rect">
            <a:avLst/>
          </a:prstGeom>
          <a:noFill/>
        </p:spPr>
        <p:txBody>
          <a:bodyPr wrap="square" lIns="0" rIns="0" tIns="0" bIns="0" anchor="t">
            <a:spAutoFit/>
          </a:bodyPr>
          <a:lstStyle/>
          <a:p>
            <a:pPr algn="ctr">
              <a:lnSpc>
                <a:spcPct val="95000"/>
              </a:lnSpc>
              <a:spcAft>
                <a:spcPts val="0"/>
              </a:spcAft>
            </a:pPr>
            <a:r>
              <a:rPr sz="4400" b="1">
                <a:solidFill>
                  <a:srgbClr val="3B6EA5"/>
                </a:solidFill>
                <a:latin typeface="Segoe UI"/>
              </a:rPr>
              <a:t>55</a:t>
            </a:r>
          </a:p>
        </p:txBody>
      </p:sp>
      <p:sp>
        <p:nvSpPr>
          <p:cNvPr id="43" name="TextBox 42"/>
          <p:cNvSpPr txBox="1"/>
          <p:nvPr/>
        </p:nvSpPr>
        <p:spPr>
          <a:xfrm>
            <a:off x="9308592" y="2962656"/>
            <a:ext cx="2194560" cy="640080"/>
          </a:xfrm>
          <a:prstGeom prst="rect">
            <a:avLst/>
          </a:prstGeom>
          <a:noFill/>
        </p:spPr>
        <p:txBody>
          <a:bodyPr wrap="square" lIns="0" rIns="0" tIns="0" bIns="0" anchor="t">
            <a:spAutoFit/>
          </a:bodyPr>
          <a:lstStyle/>
          <a:p>
            <a:pPr algn="ctr">
              <a:lnSpc>
                <a:spcPct val="115000"/>
              </a:lnSpc>
              <a:spcAft>
                <a:spcPts val="0"/>
              </a:spcAft>
            </a:pPr>
            <a:r>
              <a:rPr sz="1150" b="0">
                <a:solidFill>
                  <a:srgbClr val="64748B"/>
                </a:solidFill>
                <a:latin typeface="Segoe UI"/>
              </a:rPr>
              <a:t>tests unitaires
et d'intégration</a:t>
            </a:r>
          </a:p>
        </p:txBody>
      </p:sp>
      <p:sp>
        <p:nvSpPr>
          <p:cNvPr id="44" name="TextBox 43"/>
          <p:cNvSpPr txBox="1"/>
          <p:nvPr/>
        </p:nvSpPr>
        <p:spPr>
          <a:xfrm>
            <a:off x="9308592" y="4041648"/>
            <a:ext cx="2194560" cy="2011680"/>
          </a:xfrm>
          <a:prstGeom prst="rect">
            <a:avLst/>
          </a:prstGeom>
          <a:noFill/>
        </p:spPr>
        <p:txBody>
          <a:bodyPr wrap="square" lIns="0" rIns="0" tIns="0" bIns="0" anchor="t">
            <a:spAutoFit/>
          </a:bodyPr>
          <a:lstStyle/>
          <a:p>
            <a:pPr algn="l">
              <a:lnSpc>
                <a:spcPct val="125000"/>
              </a:lnSpc>
              <a:spcAft>
                <a:spcPts val="0"/>
              </a:spcAft>
            </a:pPr>
            <a:r>
              <a:rPr sz="1200" b="0">
                <a:solidFill>
                  <a:srgbClr val="64748B"/>
                </a:solidFill>
                <a:latin typeface="Segoe UI"/>
              </a:rPr>
              <a:t>Les tests d'intégration démarrent le contexte Spring complet sur une base en mémoire, et ne peuvent jamais atteindre la base de production.</a:t>
            </a:r>
          </a:p>
        </p:txBody>
      </p:sp>
      <p:sp>
        <p:nvSpPr>
          <p:cNvPr id="45" name="TextBox 44"/>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46" name="TextBox 45"/>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06 — VALIDATION</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Cinq défauts réels, détectés puis corrigés</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828800"/>
            <a:ext cx="10765231" cy="329184"/>
          </a:xfrm>
          <a:prstGeom prst="rect">
            <a:avLst/>
          </a:prstGeom>
          <a:noFill/>
        </p:spPr>
        <p:txBody>
          <a:bodyPr wrap="square" lIns="0" rIns="0" tIns="0" bIns="0" anchor="t">
            <a:spAutoFit/>
          </a:bodyPr>
          <a:lstStyle/>
          <a:p>
            <a:pPr algn="l">
              <a:lnSpc>
                <a:spcPct val="95000"/>
              </a:lnSpc>
              <a:spcAft>
                <a:spcPts val="0"/>
              </a:spcAft>
            </a:pPr>
            <a:r>
              <a:rPr sz="1400" b="0">
                <a:solidFill>
                  <a:srgbClr val="64748B"/>
                </a:solidFill>
                <a:latin typeface="Segoe UI"/>
              </a:rPr>
              <a:t>Un audit fonctionnel manuel a précédé les tests : 21 routes, 9 rôles, 47 endpoints, chaque commande déclenchée.</a:t>
            </a:r>
          </a:p>
        </p:txBody>
      </p:sp>
      <p:sp>
        <p:nvSpPr>
          <p:cNvPr id="6" name="Rectangle 5"/>
          <p:cNvSpPr/>
          <p:nvPr/>
        </p:nvSpPr>
        <p:spPr>
          <a:xfrm>
            <a:off x="713232" y="2395728"/>
            <a:ext cx="40640" cy="603504"/>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4297680" cy="310896"/>
          </a:xfrm>
          <a:prstGeom prst="rect">
            <a:avLst/>
          </a:prstGeom>
          <a:noFill/>
        </p:spPr>
        <p:txBody>
          <a:bodyPr wrap="square" lIns="0" rIns="0" tIns="0" bIns="0" anchor="t">
            <a:spAutoFit/>
          </a:bodyPr>
          <a:lstStyle/>
          <a:p>
            <a:pPr algn="l">
              <a:lnSpc>
                <a:spcPct val="95000"/>
              </a:lnSpc>
              <a:spcAft>
                <a:spcPts val="0"/>
              </a:spcAft>
            </a:pPr>
            <a:r>
              <a:rPr sz="1350" b="1">
                <a:solidFill>
                  <a:srgbClr val="0F1B2D"/>
                </a:solidFill>
                <a:latin typeface="Segoe UI"/>
              </a:rPr>
              <a:t>Dérive du rôle sur des comptes antérieurs</a:t>
            </a:r>
          </a:p>
        </p:txBody>
      </p:sp>
      <p:sp>
        <p:nvSpPr>
          <p:cNvPr id="8" name="TextBox 7"/>
          <p:cNvSpPr txBox="1"/>
          <p:nvPr/>
        </p:nvSpPr>
        <p:spPr>
          <a:xfrm>
            <a:off x="914400" y="2688336"/>
            <a:ext cx="4389120" cy="310896"/>
          </a:xfrm>
          <a:prstGeom prst="rect">
            <a:avLst/>
          </a:prstGeom>
          <a:noFill/>
        </p:spPr>
        <p:txBody>
          <a:bodyPr wrap="square" lIns="0" rIns="0" tIns="0" bIns="0" anchor="t">
            <a:spAutoFit/>
          </a:bodyPr>
          <a:lstStyle/>
          <a:p>
            <a:pPr algn="l">
              <a:lnSpc>
                <a:spcPct val="95000"/>
              </a:lnSpc>
              <a:spcAft>
                <a:spcPts val="0"/>
              </a:spcAft>
            </a:pPr>
            <a:r>
              <a:rPr sz="1150" b="0">
                <a:solidFill>
                  <a:srgbClr val="64748B"/>
                </a:solidFill>
                <a:latin typeface="Segoe UI"/>
              </a:rPr>
              <a:t>Le service de dérivation n'était appelé que sur les chemins d'écriture.</a:t>
            </a:r>
          </a:p>
        </p:txBody>
      </p:sp>
      <p:sp>
        <p:nvSpPr>
          <p:cNvPr id="9" name="TextBox 8"/>
          <p:cNvSpPr txBox="1"/>
          <p:nvPr/>
        </p:nvSpPr>
        <p:spPr>
          <a:xfrm>
            <a:off x="5742432" y="2450592"/>
            <a:ext cx="5760720" cy="457200"/>
          </a:xfrm>
          <a:prstGeom prst="rect">
            <a:avLst/>
          </a:prstGeom>
          <a:noFill/>
        </p:spPr>
        <p:txBody>
          <a:bodyPr wrap="square" lIns="0" rIns="0" tIns="0" bIns="0" anchor="t">
            <a:spAutoFit/>
          </a:bodyPr>
          <a:lstStyle/>
          <a:p>
            <a:pPr algn="l">
              <a:lnSpc>
                <a:spcPct val="120000"/>
              </a:lnSpc>
              <a:spcAft>
                <a:spcPts val="0"/>
              </a:spcAft>
            </a:pPr>
            <a:r>
              <a:rPr sz="1250" b="0">
                <a:solidFill>
                  <a:srgbClr val="1F2A37"/>
                </a:solidFill>
                <a:latin typeface="Segoe UI"/>
              </a:rPr>
              <a:t>Procédure de réconciliation idempotente au démarrage.</a:t>
            </a:r>
          </a:p>
        </p:txBody>
      </p:sp>
      <p:sp>
        <p:nvSpPr>
          <p:cNvPr id="10" name="Rectangle 9"/>
          <p:cNvSpPr/>
          <p:nvPr/>
        </p:nvSpPr>
        <p:spPr>
          <a:xfrm>
            <a:off x="713232" y="3145536"/>
            <a:ext cx="40640" cy="603504"/>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45536"/>
            <a:ext cx="4297680" cy="310896"/>
          </a:xfrm>
          <a:prstGeom prst="rect">
            <a:avLst/>
          </a:prstGeom>
          <a:noFill/>
        </p:spPr>
        <p:txBody>
          <a:bodyPr wrap="square" lIns="0" rIns="0" tIns="0" bIns="0" anchor="t">
            <a:spAutoFit/>
          </a:bodyPr>
          <a:lstStyle/>
          <a:p>
            <a:pPr algn="l">
              <a:lnSpc>
                <a:spcPct val="95000"/>
              </a:lnSpc>
              <a:spcAft>
                <a:spcPts val="0"/>
              </a:spcAft>
            </a:pPr>
            <a:r>
              <a:rPr sz="1350" b="1">
                <a:solidFill>
                  <a:srgbClr val="0F1B2D"/>
                </a:solidFill>
                <a:latin typeface="Segoe UI"/>
              </a:rPr>
              <a:t>Commandes visibles mais refusées au vice-directeur</a:t>
            </a:r>
          </a:p>
        </p:txBody>
      </p:sp>
      <p:sp>
        <p:nvSpPr>
          <p:cNvPr id="12" name="TextBox 11"/>
          <p:cNvSpPr txBox="1"/>
          <p:nvPr/>
        </p:nvSpPr>
        <p:spPr>
          <a:xfrm>
            <a:off x="914400" y="3438144"/>
            <a:ext cx="4389120" cy="310896"/>
          </a:xfrm>
          <a:prstGeom prst="rect">
            <a:avLst/>
          </a:prstGeom>
          <a:noFill/>
        </p:spPr>
        <p:txBody>
          <a:bodyPr wrap="square" lIns="0" rIns="0" tIns="0" bIns="0" anchor="t">
            <a:spAutoFit/>
          </a:bodyPr>
          <a:lstStyle/>
          <a:p>
            <a:pPr algn="l">
              <a:lnSpc>
                <a:spcPct val="95000"/>
              </a:lnSpc>
              <a:spcAft>
                <a:spcPts val="0"/>
              </a:spcAft>
            </a:pPr>
            <a:r>
              <a:rPr sz="1150" b="0">
                <a:solidFill>
                  <a:srgbClr val="64748B"/>
                </a:solidFill>
                <a:latin typeface="Segoe UI"/>
              </a:rPr>
              <a:t>Page ouverte à trois rôles, actions autorisées à deux seulement.</a:t>
            </a:r>
          </a:p>
        </p:txBody>
      </p:sp>
      <p:sp>
        <p:nvSpPr>
          <p:cNvPr id="13" name="TextBox 12"/>
          <p:cNvSpPr txBox="1"/>
          <p:nvPr/>
        </p:nvSpPr>
        <p:spPr>
          <a:xfrm>
            <a:off x="5742432" y="3200400"/>
            <a:ext cx="5760720" cy="457200"/>
          </a:xfrm>
          <a:prstGeom prst="rect">
            <a:avLst/>
          </a:prstGeom>
          <a:noFill/>
        </p:spPr>
        <p:txBody>
          <a:bodyPr wrap="square" lIns="0" rIns="0" tIns="0" bIns="0" anchor="t">
            <a:spAutoFit/>
          </a:bodyPr>
          <a:lstStyle/>
          <a:p>
            <a:pPr algn="l">
              <a:lnSpc>
                <a:spcPct val="120000"/>
              </a:lnSpc>
              <a:spcAft>
                <a:spcPts val="0"/>
              </a:spcAft>
            </a:pPr>
            <a:r>
              <a:rPr sz="1250" b="0">
                <a:solidFill>
                  <a:srgbClr val="1F2A37"/>
                </a:solidFill>
                <a:latin typeface="Segoe UI"/>
              </a:rPr>
              <a:t>Contrôles masqués pour ce rôle, encart explicatif, règle testée.</a:t>
            </a:r>
          </a:p>
        </p:txBody>
      </p:sp>
      <p:sp>
        <p:nvSpPr>
          <p:cNvPr id="14" name="Rectangle 13"/>
          <p:cNvSpPr/>
          <p:nvPr/>
        </p:nvSpPr>
        <p:spPr>
          <a:xfrm>
            <a:off x="713232" y="3895344"/>
            <a:ext cx="40640" cy="603504"/>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895344"/>
            <a:ext cx="4297680" cy="310896"/>
          </a:xfrm>
          <a:prstGeom prst="rect">
            <a:avLst/>
          </a:prstGeom>
          <a:noFill/>
        </p:spPr>
        <p:txBody>
          <a:bodyPr wrap="square" lIns="0" rIns="0" tIns="0" bIns="0" anchor="t">
            <a:spAutoFit/>
          </a:bodyPr>
          <a:lstStyle/>
          <a:p>
            <a:pPr algn="l">
              <a:lnSpc>
                <a:spcPct val="95000"/>
              </a:lnSpc>
              <a:spcAft>
                <a:spcPts val="0"/>
              </a:spcAft>
            </a:pPr>
            <a:r>
              <a:rPr sz="1350" b="1">
                <a:solidFill>
                  <a:srgbClr val="0F1B2D"/>
                </a:solidFill>
                <a:latin typeface="Segoe UI"/>
              </a:rPr>
              <a:t>Paramètre de requête invalide en erreur serveur</a:t>
            </a:r>
          </a:p>
        </p:txBody>
      </p:sp>
      <p:sp>
        <p:nvSpPr>
          <p:cNvPr id="16" name="TextBox 15"/>
          <p:cNvSpPr txBox="1"/>
          <p:nvPr/>
        </p:nvSpPr>
        <p:spPr>
          <a:xfrm>
            <a:off x="914400" y="4187952"/>
            <a:ext cx="4389120" cy="310896"/>
          </a:xfrm>
          <a:prstGeom prst="rect">
            <a:avLst/>
          </a:prstGeom>
          <a:noFill/>
        </p:spPr>
        <p:txBody>
          <a:bodyPr wrap="square" lIns="0" rIns="0" tIns="0" bIns="0" anchor="t">
            <a:spAutoFit/>
          </a:bodyPr>
          <a:lstStyle/>
          <a:p>
            <a:pPr algn="l">
              <a:lnSpc>
                <a:spcPct val="95000"/>
              </a:lnSpc>
              <a:spcAft>
                <a:spcPts val="0"/>
              </a:spcAft>
            </a:pPr>
            <a:r>
              <a:rPr sz="1150" b="0">
                <a:solidFill>
                  <a:srgbClr val="64748B"/>
                </a:solidFill>
                <a:latin typeface="Segoe UI"/>
              </a:rPr>
              <a:t>Un paramètre manquant produisait un code 500 au lieu d'un 400.</a:t>
            </a:r>
          </a:p>
        </p:txBody>
      </p:sp>
      <p:sp>
        <p:nvSpPr>
          <p:cNvPr id="17" name="TextBox 16"/>
          <p:cNvSpPr txBox="1"/>
          <p:nvPr/>
        </p:nvSpPr>
        <p:spPr>
          <a:xfrm>
            <a:off x="5742432" y="3950208"/>
            <a:ext cx="5760720" cy="457200"/>
          </a:xfrm>
          <a:prstGeom prst="rect">
            <a:avLst/>
          </a:prstGeom>
          <a:noFill/>
        </p:spPr>
        <p:txBody>
          <a:bodyPr wrap="square" lIns="0" rIns="0" tIns="0" bIns="0" anchor="t">
            <a:spAutoFit/>
          </a:bodyPr>
          <a:lstStyle/>
          <a:p>
            <a:pPr algn="l">
              <a:lnSpc>
                <a:spcPct val="120000"/>
              </a:lnSpc>
              <a:spcAft>
                <a:spcPts val="0"/>
              </a:spcAft>
            </a:pPr>
            <a:r>
              <a:rPr sz="1250" b="0">
                <a:solidFill>
                  <a:srgbClr val="1F2A37"/>
                </a:solidFill>
                <a:latin typeface="Segoe UI"/>
              </a:rPr>
              <a:t>Gestionnaires dédiés ; quatre cas verrouillés par un test.</a:t>
            </a:r>
          </a:p>
        </p:txBody>
      </p:sp>
      <p:sp>
        <p:nvSpPr>
          <p:cNvPr id="18" name="Rectangle 17"/>
          <p:cNvSpPr/>
          <p:nvPr/>
        </p:nvSpPr>
        <p:spPr>
          <a:xfrm>
            <a:off x="713232" y="4645152"/>
            <a:ext cx="40640" cy="603504"/>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645152"/>
            <a:ext cx="4297680" cy="310896"/>
          </a:xfrm>
          <a:prstGeom prst="rect">
            <a:avLst/>
          </a:prstGeom>
          <a:noFill/>
        </p:spPr>
        <p:txBody>
          <a:bodyPr wrap="square" lIns="0" rIns="0" tIns="0" bIns="0" anchor="t">
            <a:spAutoFit/>
          </a:bodyPr>
          <a:lstStyle/>
          <a:p>
            <a:pPr algn="l">
              <a:lnSpc>
                <a:spcPct val="95000"/>
              </a:lnSpc>
              <a:spcAft>
                <a:spcPts val="0"/>
              </a:spcAft>
            </a:pPr>
            <a:r>
              <a:rPr sz="1350" b="1">
                <a:solidFill>
                  <a:srgbClr val="0F1B2D"/>
                </a:solidFill>
                <a:latin typeface="Segoe UI"/>
              </a:rPr>
              <a:t>Corps de réponse vide sur les erreurs 401</a:t>
            </a:r>
          </a:p>
        </p:txBody>
      </p:sp>
      <p:sp>
        <p:nvSpPr>
          <p:cNvPr id="20" name="TextBox 19"/>
          <p:cNvSpPr txBox="1"/>
          <p:nvPr/>
        </p:nvSpPr>
        <p:spPr>
          <a:xfrm>
            <a:off x="914400" y="4937760"/>
            <a:ext cx="4389120" cy="310896"/>
          </a:xfrm>
          <a:prstGeom prst="rect">
            <a:avLst/>
          </a:prstGeom>
          <a:noFill/>
        </p:spPr>
        <p:txBody>
          <a:bodyPr wrap="square" lIns="0" rIns="0" tIns="0" bIns="0" anchor="t">
            <a:spAutoFit/>
          </a:bodyPr>
          <a:lstStyle/>
          <a:p>
            <a:pPr algn="l">
              <a:lnSpc>
                <a:spcPct val="95000"/>
              </a:lnSpc>
              <a:spcAft>
                <a:spcPts val="0"/>
              </a:spcAft>
            </a:pPr>
            <a:r>
              <a:rPr sz="1150" b="0">
                <a:solidFill>
                  <a:srgbClr val="64748B"/>
                </a:solidFill>
                <a:latin typeface="Segoe UI"/>
              </a:rPr>
              <a:t>Convertisseur JSON construit manuellement, sans gestion des dates.</a:t>
            </a:r>
          </a:p>
        </p:txBody>
      </p:sp>
      <p:sp>
        <p:nvSpPr>
          <p:cNvPr id="21" name="TextBox 20"/>
          <p:cNvSpPr txBox="1"/>
          <p:nvPr/>
        </p:nvSpPr>
        <p:spPr>
          <a:xfrm>
            <a:off x="5742432" y="4700016"/>
            <a:ext cx="5760720" cy="457200"/>
          </a:xfrm>
          <a:prstGeom prst="rect">
            <a:avLst/>
          </a:prstGeom>
          <a:noFill/>
        </p:spPr>
        <p:txBody>
          <a:bodyPr wrap="square" lIns="0" rIns="0" tIns="0" bIns="0" anchor="t">
            <a:spAutoFit/>
          </a:bodyPr>
          <a:lstStyle/>
          <a:p>
            <a:pPr algn="l">
              <a:lnSpc>
                <a:spcPct val="120000"/>
              </a:lnSpc>
              <a:spcAft>
                <a:spcPts val="0"/>
              </a:spcAft>
            </a:pPr>
            <a:r>
              <a:rPr sz="1250" b="0">
                <a:solidFill>
                  <a:srgbClr val="1F2A37"/>
                </a:solidFill>
                <a:latin typeface="Segoe UI"/>
              </a:rPr>
              <a:t>Injection du convertisseur du contexte. Défaut révélé par les tests.</a:t>
            </a:r>
          </a:p>
        </p:txBody>
      </p:sp>
      <p:sp>
        <p:nvSpPr>
          <p:cNvPr id="22" name="Rectangle 21"/>
          <p:cNvSpPr/>
          <p:nvPr/>
        </p:nvSpPr>
        <p:spPr>
          <a:xfrm>
            <a:off x="713232" y="5394960"/>
            <a:ext cx="40640" cy="603504"/>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394960"/>
            <a:ext cx="4297680" cy="310896"/>
          </a:xfrm>
          <a:prstGeom prst="rect">
            <a:avLst/>
          </a:prstGeom>
          <a:noFill/>
        </p:spPr>
        <p:txBody>
          <a:bodyPr wrap="square" lIns="0" rIns="0" tIns="0" bIns="0" anchor="t">
            <a:spAutoFit/>
          </a:bodyPr>
          <a:lstStyle/>
          <a:p>
            <a:pPr algn="l">
              <a:lnSpc>
                <a:spcPct val="95000"/>
              </a:lnSpc>
              <a:spcAft>
                <a:spcPts val="0"/>
              </a:spcAft>
            </a:pPr>
            <a:r>
              <a:rPr sz="1350" b="1">
                <a:solidFill>
                  <a:srgbClr val="0F1B2D"/>
                </a:solidFill>
                <a:latin typeface="Segoe UI"/>
              </a:rPr>
              <a:t>Mandat actif conservé par un membre archivé</a:t>
            </a:r>
          </a:p>
        </p:txBody>
      </p:sp>
      <p:sp>
        <p:nvSpPr>
          <p:cNvPr id="24" name="TextBox 23"/>
          <p:cNvSpPr txBox="1"/>
          <p:nvPr/>
        </p:nvSpPr>
        <p:spPr>
          <a:xfrm>
            <a:off x="914400" y="5687568"/>
            <a:ext cx="4389120" cy="310896"/>
          </a:xfrm>
          <a:prstGeom prst="rect">
            <a:avLst/>
          </a:prstGeom>
          <a:noFill/>
        </p:spPr>
        <p:txBody>
          <a:bodyPr wrap="square" lIns="0" rIns="0" tIns="0" bIns="0" anchor="t">
            <a:spAutoFit/>
          </a:bodyPr>
          <a:lstStyle/>
          <a:p>
            <a:pPr algn="l">
              <a:lnSpc>
                <a:spcPct val="95000"/>
              </a:lnSpc>
              <a:spcAft>
                <a:spcPts val="0"/>
              </a:spcAft>
            </a:pPr>
            <a:r>
              <a:rPr sz="1150" b="0">
                <a:solidFill>
                  <a:srgbClr val="64748B"/>
                </a:solidFill>
                <a:latin typeface="Segoe UI"/>
              </a:rPr>
              <a:t>L'archivage ne clôturait pas les mandats, contrairement au départ.</a:t>
            </a:r>
          </a:p>
        </p:txBody>
      </p:sp>
      <p:sp>
        <p:nvSpPr>
          <p:cNvPr id="25" name="TextBox 24"/>
          <p:cNvSpPr txBox="1"/>
          <p:nvPr/>
        </p:nvSpPr>
        <p:spPr>
          <a:xfrm>
            <a:off x="5742432" y="5449824"/>
            <a:ext cx="5760720" cy="457200"/>
          </a:xfrm>
          <a:prstGeom prst="rect">
            <a:avLst/>
          </a:prstGeom>
          <a:noFill/>
        </p:spPr>
        <p:txBody>
          <a:bodyPr wrap="square" lIns="0" rIns="0" tIns="0" bIns="0" anchor="t">
            <a:spAutoFit/>
          </a:bodyPr>
          <a:lstStyle/>
          <a:p>
            <a:pPr algn="l">
              <a:lnSpc>
                <a:spcPct val="120000"/>
              </a:lnSpc>
              <a:spcAft>
                <a:spcPts val="0"/>
              </a:spcAft>
            </a:pPr>
            <a:r>
              <a:rPr sz="1250" b="0">
                <a:solidFill>
                  <a:srgbClr val="1F2A37"/>
                </a:solidFill>
                <a:latin typeface="Segoe UI"/>
              </a:rPr>
              <a:t>Clôture puis recalcul du rôle ; 7 tests ajoutés ; données corrigées.</a:t>
            </a:r>
          </a:p>
        </p:txBody>
      </p:sp>
      <p:sp>
        <p:nvSpPr>
          <p:cNvPr id="26" name="TextBox 25"/>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27" name="TextBox 26"/>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07 — RÉSULTATS</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Ce qui est livré</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883664"/>
            <a:ext cx="3566160" cy="274320"/>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BACKEND</a:t>
            </a:r>
          </a:p>
        </p:txBody>
      </p:sp>
      <p:sp>
        <p:nvSpPr>
          <p:cNvPr id="6" name="Rectangle 5"/>
          <p:cNvSpPr/>
          <p:nvPr/>
        </p:nvSpPr>
        <p:spPr>
          <a:xfrm>
            <a:off x="713232" y="2194560"/>
            <a:ext cx="3566160" cy="19050"/>
          </a:xfrm>
          <a:prstGeom prst="rect">
            <a:avLst/>
          </a:prstGeom>
          <a:solidFill>
            <a:srgbClr val="D8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395728"/>
            <a:ext cx="1280160" cy="329184"/>
          </a:xfrm>
          <a:prstGeom prst="rect">
            <a:avLst/>
          </a:prstGeom>
          <a:noFill/>
        </p:spPr>
        <p:txBody>
          <a:bodyPr wrap="square" lIns="0" rIns="0" tIns="0" bIns="0" anchor="t">
            <a:spAutoFit/>
          </a:bodyPr>
          <a:lstStyle/>
          <a:p>
            <a:pPr algn="l">
              <a:lnSpc>
                <a:spcPct val="95000"/>
              </a:lnSpc>
              <a:spcAft>
                <a:spcPts val="0"/>
              </a:spcAft>
            </a:pPr>
            <a:r>
              <a:rPr sz="1700" b="1">
                <a:solidFill>
                  <a:srgbClr val="0F1B2D"/>
                </a:solidFill>
                <a:latin typeface="Segoe UI"/>
              </a:rPr>
              <a:t>31</a:t>
            </a:r>
          </a:p>
        </p:txBody>
      </p:sp>
      <p:sp>
        <p:nvSpPr>
          <p:cNvPr id="8" name="TextBox 7"/>
          <p:cNvSpPr txBox="1"/>
          <p:nvPr/>
        </p:nvSpPr>
        <p:spPr>
          <a:xfrm>
            <a:off x="2039112" y="2441448"/>
            <a:ext cx="219456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entités JPA</a:t>
            </a:r>
          </a:p>
        </p:txBody>
      </p:sp>
      <p:sp>
        <p:nvSpPr>
          <p:cNvPr id="9" name="TextBox 8"/>
          <p:cNvSpPr txBox="1"/>
          <p:nvPr/>
        </p:nvSpPr>
        <p:spPr>
          <a:xfrm>
            <a:off x="713232" y="2871216"/>
            <a:ext cx="1280160" cy="329184"/>
          </a:xfrm>
          <a:prstGeom prst="rect">
            <a:avLst/>
          </a:prstGeom>
          <a:noFill/>
        </p:spPr>
        <p:txBody>
          <a:bodyPr wrap="square" lIns="0" rIns="0" tIns="0" bIns="0" anchor="t">
            <a:spAutoFit/>
          </a:bodyPr>
          <a:lstStyle/>
          <a:p>
            <a:pPr algn="l">
              <a:lnSpc>
                <a:spcPct val="95000"/>
              </a:lnSpc>
              <a:spcAft>
                <a:spcPts val="0"/>
              </a:spcAft>
            </a:pPr>
            <a:r>
              <a:rPr sz="1700" b="1">
                <a:solidFill>
                  <a:srgbClr val="0F1B2D"/>
                </a:solidFill>
                <a:latin typeface="Segoe UI"/>
              </a:rPr>
              <a:t>28</a:t>
            </a:r>
          </a:p>
        </p:txBody>
      </p:sp>
      <p:sp>
        <p:nvSpPr>
          <p:cNvPr id="10" name="TextBox 9"/>
          <p:cNvSpPr txBox="1"/>
          <p:nvPr/>
        </p:nvSpPr>
        <p:spPr>
          <a:xfrm>
            <a:off x="2039112" y="2916936"/>
            <a:ext cx="219456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services métier</a:t>
            </a:r>
          </a:p>
        </p:txBody>
      </p:sp>
      <p:sp>
        <p:nvSpPr>
          <p:cNvPr id="11" name="TextBox 10"/>
          <p:cNvSpPr txBox="1"/>
          <p:nvPr/>
        </p:nvSpPr>
        <p:spPr>
          <a:xfrm>
            <a:off x="713232" y="3346704"/>
            <a:ext cx="1280160" cy="329184"/>
          </a:xfrm>
          <a:prstGeom prst="rect">
            <a:avLst/>
          </a:prstGeom>
          <a:noFill/>
        </p:spPr>
        <p:txBody>
          <a:bodyPr wrap="square" lIns="0" rIns="0" tIns="0" bIns="0" anchor="t">
            <a:spAutoFit/>
          </a:bodyPr>
          <a:lstStyle/>
          <a:p>
            <a:pPr algn="l">
              <a:lnSpc>
                <a:spcPct val="95000"/>
              </a:lnSpc>
              <a:spcAft>
                <a:spcPts val="0"/>
              </a:spcAft>
            </a:pPr>
            <a:r>
              <a:rPr sz="1700" b="1">
                <a:solidFill>
                  <a:srgbClr val="0F1B2D"/>
                </a:solidFill>
                <a:latin typeface="Segoe UI"/>
              </a:rPr>
              <a:t>22</a:t>
            </a:r>
          </a:p>
        </p:txBody>
      </p:sp>
      <p:sp>
        <p:nvSpPr>
          <p:cNvPr id="12" name="TextBox 11"/>
          <p:cNvSpPr txBox="1"/>
          <p:nvPr/>
        </p:nvSpPr>
        <p:spPr>
          <a:xfrm>
            <a:off x="2039112" y="3392424"/>
            <a:ext cx="219456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contrôleurs REST</a:t>
            </a:r>
          </a:p>
        </p:txBody>
      </p:sp>
      <p:sp>
        <p:nvSpPr>
          <p:cNvPr id="13" name="TextBox 12"/>
          <p:cNvSpPr txBox="1"/>
          <p:nvPr/>
        </p:nvSpPr>
        <p:spPr>
          <a:xfrm>
            <a:off x="713232" y="3822192"/>
            <a:ext cx="1280160" cy="329184"/>
          </a:xfrm>
          <a:prstGeom prst="rect">
            <a:avLst/>
          </a:prstGeom>
          <a:noFill/>
        </p:spPr>
        <p:txBody>
          <a:bodyPr wrap="square" lIns="0" rIns="0" tIns="0" bIns="0" anchor="t">
            <a:spAutoFit/>
          </a:bodyPr>
          <a:lstStyle/>
          <a:p>
            <a:pPr algn="l">
              <a:lnSpc>
                <a:spcPct val="95000"/>
              </a:lnSpc>
              <a:spcAft>
                <a:spcPts val="0"/>
              </a:spcAft>
            </a:pPr>
            <a:r>
              <a:rPr sz="1700" b="1">
                <a:solidFill>
                  <a:srgbClr val="0F1B2D"/>
                </a:solidFill>
                <a:latin typeface="Segoe UI"/>
              </a:rPr>
              <a:t>30</a:t>
            </a:r>
          </a:p>
        </p:txBody>
      </p:sp>
      <p:sp>
        <p:nvSpPr>
          <p:cNvPr id="14" name="TextBox 13"/>
          <p:cNvSpPr txBox="1"/>
          <p:nvPr/>
        </p:nvSpPr>
        <p:spPr>
          <a:xfrm>
            <a:off x="2039112" y="3867912"/>
            <a:ext cx="219456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tables relationnelles</a:t>
            </a:r>
          </a:p>
        </p:txBody>
      </p:sp>
      <p:sp>
        <p:nvSpPr>
          <p:cNvPr id="15" name="TextBox 14"/>
          <p:cNvSpPr txBox="1"/>
          <p:nvPr/>
        </p:nvSpPr>
        <p:spPr>
          <a:xfrm>
            <a:off x="713232" y="4297680"/>
            <a:ext cx="1280160" cy="329184"/>
          </a:xfrm>
          <a:prstGeom prst="rect">
            <a:avLst/>
          </a:prstGeom>
          <a:noFill/>
        </p:spPr>
        <p:txBody>
          <a:bodyPr wrap="square" lIns="0" rIns="0" tIns="0" bIns="0" anchor="t">
            <a:spAutoFit/>
          </a:bodyPr>
          <a:lstStyle/>
          <a:p>
            <a:pPr algn="l">
              <a:lnSpc>
                <a:spcPct val="95000"/>
              </a:lnSpc>
              <a:spcAft>
                <a:spcPts val="0"/>
              </a:spcAft>
            </a:pPr>
            <a:r>
              <a:rPr sz="1700" b="1">
                <a:solidFill>
                  <a:srgbClr val="0F1B2D"/>
                </a:solidFill>
                <a:latin typeface="Segoe UI"/>
              </a:rPr>
              <a:t>9 942</a:t>
            </a:r>
          </a:p>
        </p:txBody>
      </p:sp>
      <p:sp>
        <p:nvSpPr>
          <p:cNvPr id="16" name="TextBox 15"/>
          <p:cNvSpPr txBox="1"/>
          <p:nvPr/>
        </p:nvSpPr>
        <p:spPr>
          <a:xfrm>
            <a:off x="2039112" y="4343400"/>
            <a:ext cx="219456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lignes de Java</a:t>
            </a:r>
          </a:p>
        </p:txBody>
      </p:sp>
      <p:sp>
        <p:nvSpPr>
          <p:cNvPr id="17" name="TextBox 16"/>
          <p:cNvSpPr txBox="1"/>
          <p:nvPr/>
        </p:nvSpPr>
        <p:spPr>
          <a:xfrm>
            <a:off x="4645152" y="1883664"/>
            <a:ext cx="3566160" cy="274320"/>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FRONTEND</a:t>
            </a:r>
          </a:p>
        </p:txBody>
      </p:sp>
      <p:sp>
        <p:nvSpPr>
          <p:cNvPr id="18" name="Rectangle 17"/>
          <p:cNvSpPr/>
          <p:nvPr/>
        </p:nvSpPr>
        <p:spPr>
          <a:xfrm>
            <a:off x="4645152" y="2194560"/>
            <a:ext cx="3566160" cy="19050"/>
          </a:xfrm>
          <a:prstGeom prst="rect">
            <a:avLst/>
          </a:prstGeom>
          <a:solidFill>
            <a:srgbClr val="D8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5152" y="2395728"/>
            <a:ext cx="1280160" cy="329184"/>
          </a:xfrm>
          <a:prstGeom prst="rect">
            <a:avLst/>
          </a:prstGeom>
          <a:noFill/>
        </p:spPr>
        <p:txBody>
          <a:bodyPr wrap="square" lIns="0" rIns="0" tIns="0" bIns="0" anchor="t">
            <a:spAutoFit/>
          </a:bodyPr>
          <a:lstStyle/>
          <a:p>
            <a:pPr algn="l">
              <a:lnSpc>
                <a:spcPct val="95000"/>
              </a:lnSpc>
              <a:spcAft>
                <a:spcPts val="0"/>
              </a:spcAft>
            </a:pPr>
            <a:r>
              <a:rPr sz="1700" b="1">
                <a:solidFill>
                  <a:srgbClr val="0F1B2D"/>
                </a:solidFill>
                <a:latin typeface="Segoe UI"/>
              </a:rPr>
              <a:t>21</a:t>
            </a:r>
          </a:p>
        </p:txBody>
      </p:sp>
      <p:sp>
        <p:nvSpPr>
          <p:cNvPr id="20" name="TextBox 19"/>
          <p:cNvSpPr txBox="1"/>
          <p:nvPr/>
        </p:nvSpPr>
        <p:spPr>
          <a:xfrm>
            <a:off x="5971032" y="2441448"/>
            <a:ext cx="219456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pages React</a:t>
            </a:r>
          </a:p>
        </p:txBody>
      </p:sp>
      <p:sp>
        <p:nvSpPr>
          <p:cNvPr id="21" name="TextBox 20"/>
          <p:cNvSpPr txBox="1"/>
          <p:nvPr/>
        </p:nvSpPr>
        <p:spPr>
          <a:xfrm>
            <a:off x="4645152" y="2871216"/>
            <a:ext cx="1280160" cy="329184"/>
          </a:xfrm>
          <a:prstGeom prst="rect">
            <a:avLst/>
          </a:prstGeom>
          <a:noFill/>
        </p:spPr>
        <p:txBody>
          <a:bodyPr wrap="square" lIns="0" rIns="0" tIns="0" bIns="0" anchor="t">
            <a:spAutoFit/>
          </a:bodyPr>
          <a:lstStyle/>
          <a:p>
            <a:pPr algn="l">
              <a:lnSpc>
                <a:spcPct val="95000"/>
              </a:lnSpc>
              <a:spcAft>
                <a:spcPts val="0"/>
              </a:spcAft>
            </a:pPr>
            <a:r>
              <a:rPr sz="1700" b="1">
                <a:solidFill>
                  <a:srgbClr val="0F1B2D"/>
                </a:solidFill>
                <a:latin typeface="Segoe UI"/>
              </a:rPr>
              <a:t>27</a:t>
            </a:r>
          </a:p>
        </p:txBody>
      </p:sp>
      <p:sp>
        <p:nvSpPr>
          <p:cNvPr id="22" name="TextBox 21"/>
          <p:cNvSpPr txBox="1"/>
          <p:nvPr/>
        </p:nvSpPr>
        <p:spPr>
          <a:xfrm>
            <a:off x="5971032" y="2916936"/>
            <a:ext cx="219456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composants</a:t>
            </a:r>
          </a:p>
        </p:txBody>
      </p:sp>
      <p:sp>
        <p:nvSpPr>
          <p:cNvPr id="23" name="TextBox 22"/>
          <p:cNvSpPr txBox="1"/>
          <p:nvPr/>
        </p:nvSpPr>
        <p:spPr>
          <a:xfrm>
            <a:off x="4645152" y="3346704"/>
            <a:ext cx="1280160" cy="329184"/>
          </a:xfrm>
          <a:prstGeom prst="rect">
            <a:avLst/>
          </a:prstGeom>
          <a:noFill/>
        </p:spPr>
        <p:txBody>
          <a:bodyPr wrap="square" lIns="0" rIns="0" tIns="0" bIns="0" anchor="t">
            <a:spAutoFit/>
          </a:bodyPr>
          <a:lstStyle/>
          <a:p>
            <a:pPr algn="l">
              <a:lnSpc>
                <a:spcPct val="95000"/>
              </a:lnSpc>
              <a:spcAft>
                <a:spcPts val="0"/>
              </a:spcAft>
            </a:pPr>
            <a:r>
              <a:rPr sz="1700" b="1">
                <a:solidFill>
                  <a:srgbClr val="0F1B2D"/>
                </a:solidFill>
                <a:latin typeface="Segoe UI"/>
              </a:rPr>
              <a:t>19</a:t>
            </a:r>
          </a:p>
        </p:txBody>
      </p:sp>
      <p:sp>
        <p:nvSpPr>
          <p:cNvPr id="24" name="TextBox 23"/>
          <p:cNvSpPr txBox="1"/>
          <p:nvPr/>
        </p:nvSpPr>
        <p:spPr>
          <a:xfrm>
            <a:off x="5971032" y="3392424"/>
            <a:ext cx="219456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services d'appel API</a:t>
            </a:r>
          </a:p>
        </p:txBody>
      </p:sp>
      <p:sp>
        <p:nvSpPr>
          <p:cNvPr id="25" name="TextBox 24"/>
          <p:cNvSpPr txBox="1"/>
          <p:nvPr/>
        </p:nvSpPr>
        <p:spPr>
          <a:xfrm>
            <a:off x="4645152" y="3822192"/>
            <a:ext cx="1280160" cy="329184"/>
          </a:xfrm>
          <a:prstGeom prst="rect">
            <a:avLst/>
          </a:prstGeom>
          <a:noFill/>
        </p:spPr>
        <p:txBody>
          <a:bodyPr wrap="square" lIns="0" rIns="0" tIns="0" bIns="0" anchor="t">
            <a:spAutoFit/>
          </a:bodyPr>
          <a:lstStyle/>
          <a:p>
            <a:pPr algn="l">
              <a:lnSpc>
                <a:spcPct val="95000"/>
              </a:lnSpc>
              <a:spcAft>
                <a:spcPts val="0"/>
              </a:spcAft>
            </a:pPr>
            <a:r>
              <a:rPr sz="1700" b="1">
                <a:solidFill>
                  <a:srgbClr val="0F1B2D"/>
                </a:solidFill>
                <a:latin typeface="Segoe UI"/>
              </a:rPr>
              <a:t>7</a:t>
            </a:r>
          </a:p>
        </p:txBody>
      </p:sp>
      <p:sp>
        <p:nvSpPr>
          <p:cNvPr id="26" name="TextBox 25"/>
          <p:cNvSpPr txBox="1"/>
          <p:nvPr/>
        </p:nvSpPr>
        <p:spPr>
          <a:xfrm>
            <a:off x="5971032" y="3867912"/>
            <a:ext cx="219456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modules de design system</a:t>
            </a:r>
          </a:p>
        </p:txBody>
      </p:sp>
      <p:sp>
        <p:nvSpPr>
          <p:cNvPr id="27" name="TextBox 26"/>
          <p:cNvSpPr txBox="1"/>
          <p:nvPr/>
        </p:nvSpPr>
        <p:spPr>
          <a:xfrm>
            <a:off x="4645152" y="4297680"/>
            <a:ext cx="1280160" cy="329184"/>
          </a:xfrm>
          <a:prstGeom prst="rect">
            <a:avLst/>
          </a:prstGeom>
          <a:noFill/>
        </p:spPr>
        <p:txBody>
          <a:bodyPr wrap="square" lIns="0" rIns="0" tIns="0" bIns="0" anchor="t">
            <a:spAutoFit/>
          </a:bodyPr>
          <a:lstStyle/>
          <a:p>
            <a:pPr algn="l">
              <a:lnSpc>
                <a:spcPct val="95000"/>
              </a:lnSpc>
              <a:spcAft>
                <a:spcPts val="0"/>
              </a:spcAft>
            </a:pPr>
            <a:r>
              <a:rPr sz="1700" b="1">
                <a:solidFill>
                  <a:srgbClr val="0F1B2D"/>
                </a:solidFill>
                <a:latin typeface="Segoe UI"/>
              </a:rPr>
              <a:t>13 112</a:t>
            </a:r>
          </a:p>
        </p:txBody>
      </p:sp>
      <p:sp>
        <p:nvSpPr>
          <p:cNvPr id="28" name="TextBox 27"/>
          <p:cNvSpPr txBox="1"/>
          <p:nvPr/>
        </p:nvSpPr>
        <p:spPr>
          <a:xfrm>
            <a:off x="5971032" y="4343400"/>
            <a:ext cx="2194560" cy="310896"/>
          </a:xfrm>
          <a:prstGeom prst="rect">
            <a:avLst/>
          </a:prstGeom>
          <a:noFill/>
        </p:spPr>
        <p:txBody>
          <a:bodyPr wrap="square" lIns="0" rIns="0" tIns="0" bIns="0" anchor="t">
            <a:spAutoFit/>
          </a:bodyPr>
          <a:lstStyle/>
          <a:p>
            <a:pPr algn="l">
              <a:lnSpc>
                <a:spcPct val="95000"/>
              </a:lnSpc>
              <a:spcAft>
                <a:spcPts val="0"/>
              </a:spcAft>
            </a:pPr>
            <a:r>
              <a:rPr sz="1300" b="0">
                <a:solidFill>
                  <a:srgbClr val="1F2A37"/>
                </a:solidFill>
                <a:latin typeface="Segoe UI"/>
              </a:rPr>
              <a:t>lignes de JavaScript</a:t>
            </a:r>
          </a:p>
        </p:txBody>
      </p:sp>
      <p:sp>
        <p:nvSpPr>
          <p:cNvPr id="29" name="Rectangle 28"/>
          <p:cNvSpPr/>
          <p:nvPr/>
        </p:nvSpPr>
        <p:spPr>
          <a:xfrm>
            <a:off x="8668511" y="1883664"/>
            <a:ext cx="2834640" cy="393192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19" y="2157984"/>
            <a:ext cx="2286000" cy="274320"/>
          </a:xfrm>
          <a:prstGeom prst="rect">
            <a:avLst/>
          </a:prstGeom>
          <a:noFill/>
        </p:spPr>
        <p:txBody>
          <a:bodyPr wrap="square" lIns="0" rIns="0" tIns="0" bIns="0" anchor="t">
            <a:spAutoFit/>
          </a:bodyPr>
          <a:lstStyle/>
          <a:p>
            <a:pPr algn="l">
              <a:lnSpc>
                <a:spcPct val="95000"/>
              </a:lnSpc>
              <a:spcAft>
                <a:spcPts val="0"/>
              </a:spcAft>
            </a:pPr>
            <a:r>
              <a:rPr sz="1100" b="1">
                <a:solidFill>
                  <a:srgbClr val="8FB0D0"/>
                </a:solidFill>
                <a:latin typeface="Segoe UI"/>
              </a:rPr>
              <a:t>COUVERTURE</a:t>
            </a:r>
          </a:p>
        </p:txBody>
      </p:sp>
      <p:sp>
        <p:nvSpPr>
          <p:cNvPr id="31" name="TextBox 30"/>
          <p:cNvSpPr txBox="1"/>
          <p:nvPr/>
        </p:nvSpPr>
        <p:spPr>
          <a:xfrm>
            <a:off x="8961119" y="2523744"/>
            <a:ext cx="2286000" cy="822960"/>
          </a:xfrm>
          <a:prstGeom prst="rect">
            <a:avLst/>
          </a:prstGeom>
          <a:noFill/>
        </p:spPr>
        <p:txBody>
          <a:bodyPr wrap="square" lIns="0" rIns="0" tIns="0" bIns="0" anchor="t">
            <a:spAutoFit/>
          </a:bodyPr>
          <a:lstStyle/>
          <a:p>
            <a:pPr algn="l">
              <a:lnSpc>
                <a:spcPct val="95000"/>
              </a:lnSpc>
              <a:spcAft>
                <a:spcPts val="0"/>
              </a:spcAft>
            </a:pPr>
            <a:r>
              <a:rPr sz="3600" b="1">
                <a:solidFill>
                  <a:srgbClr val="FFFFFF"/>
                </a:solidFill>
                <a:latin typeface="Segoe UI"/>
              </a:rPr>
              <a:t>21 / 21</a:t>
            </a:r>
          </a:p>
        </p:txBody>
      </p:sp>
      <p:sp>
        <p:nvSpPr>
          <p:cNvPr id="32" name="TextBox 31"/>
          <p:cNvSpPr txBox="1"/>
          <p:nvPr/>
        </p:nvSpPr>
        <p:spPr>
          <a:xfrm>
            <a:off x="8961119" y="3127248"/>
            <a:ext cx="2286000" cy="548640"/>
          </a:xfrm>
          <a:prstGeom prst="rect">
            <a:avLst/>
          </a:prstGeom>
          <a:noFill/>
        </p:spPr>
        <p:txBody>
          <a:bodyPr wrap="square" lIns="0" rIns="0" tIns="0" bIns="0" anchor="t">
            <a:spAutoFit/>
          </a:bodyPr>
          <a:lstStyle/>
          <a:p>
            <a:pPr algn="l">
              <a:lnSpc>
                <a:spcPct val="120000"/>
              </a:lnSpc>
              <a:spcAft>
                <a:spcPts val="0"/>
              </a:spcAft>
            </a:pPr>
            <a:r>
              <a:rPr sz="1200" b="0">
                <a:solidFill>
                  <a:srgbClr val="8FB0D0"/>
                </a:solidFill>
                <a:latin typeface="Segoe UI"/>
              </a:rPr>
              <a:t>sections du cahier
des charges couvertes</a:t>
            </a:r>
          </a:p>
        </p:txBody>
      </p:sp>
      <p:sp>
        <p:nvSpPr>
          <p:cNvPr id="33" name="Rectangle 32"/>
          <p:cNvSpPr/>
          <p:nvPr/>
        </p:nvSpPr>
        <p:spPr>
          <a:xfrm>
            <a:off x="8961119" y="3858768"/>
            <a:ext cx="2194560" cy="1905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19" y="4096512"/>
            <a:ext cx="2286000" cy="1463040"/>
          </a:xfrm>
          <a:prstGeom prst="rect">
            <a:avLst/>
          </a:prstGeom>
          <a:noFill/>
        </p:spPr>
        <p:txBody>
          <a:bodyPr wrap="square" lIns="0" rIns="0" tIns="0" bIns="0" anchor="t">
            <a:spAutoFit/>
          </a:bodyPr>
          <a:lstStyle/>
          <a:p>
            <a:pPr algn="l">
              <a:lnSpc>
                <a:spcPct val="125000"/>
              </a:lnSpc>
              <a:spcAft>
                <a:spcPts val="0"/>
              </a:spcAft>
            </a:pPr>
            <a:r>
              <a:rPr sz="1250" b="0">
                <a:solidFill>
                  <a:srgbClr val="8FB0D0"/>
                </a:solidFill>
                <a:latin typeface="Segoe UI"/>
              </a:rPr>
              <a:t>Chaque section est confrontée à son implémentation et à la figure du rapport qui en atteste.</a:t>
            </a:r>
          </a:p>
        </p:txBody>
      </p:sp>
      <p:sp>
        <p:nvSpPr>
          <p:cNvPr id="35" name="TextBox 34"/>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36" name="TextBox 35"/>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475488"/>
            <a:ext cx="10765231" cy="237744"/>
          </a:xfrm>
          <a:prstGeom prst="rect">
            <a:avLst/>
          </a:prstGeom>
          <a:noFill/>
        </p:spPr>
        <p:txBody>
          <a:bodyPr wrap="square" lIns="0" rIns="0" tIns="0" bIns="0" anchor="t">
            <a:spAutoFit/>
          </a:bodyPr>
          <a:lstStyle/>
          <a:p>
            <a:pPr algn="l">
              <a:lnSpc>
                <a:spcPct val="95000"/>
              </a:lnSpc>
              <a:spcAft>
                <a:spcPts val="0"/>
              </a:spcAft>
            </a:pPr>
            <a:r>
              <a:rPr sz="1150" b="1">
                <a:solidFill>
                  <a:srgbClr val="3B6EA5"/>
                </a:solidFill>
                <a:latin typeface="Segoe UI"/>
              </a:rPr>
              <a:t>07 — LIMITES</a:t>
            </a:r>
          </a:p>
        </p:txBody>
      </p:sp>
      <p:sp>
        <p:nvSpPr>
          <p:cNvPr id="3" name="TextBox 2"/>
          <p:cNvSpPr txBox="1"/>
          <p:nvPr/>
        </p:nvSpPr>
        <p:spPr>
          <a:xfrm>
            <a:off x="713232" y="768096"/>
            <a:ext cx="10765231" cy="566928"/>
          </a:xfrm>
          <a:prstGeom prst="rect">
            <a:avLst/>
          </a:prstGeom>
          <a:noFill/>
        </p:spPr>
        <p:txBody>
          <a:bodyPr wrap="square" lIns="0" rIns="0" tIns="0" bIns="0" anchor="t">
            <a:spAutoFit/>
          </a:bodyPr>
          <a:lstStyle/>
          <a:p>
            <a:pPr algn="l">
              <a:lnSpc>
                <a:spcPct val="95000"/>
              </a:lnSpc>
              <a:spcAft>
                <a:spcPts val="0"/>
              </a:spcAft>
            </a:pPr>
            <a:r>
              <a:rPr sz="3000" b="0">
                <a:solidFill>
                  <a:srgbClr val="0F1B2D"/>
                </a:solidFill>
                <a:latin typeface="Segoe UI Light"/>
              </a:rPr>
              <a:t>Ce qui n'est pas livré, sans atténuation</a:t>
            </a:r>
          </a:p>
        </p:txBody>
      </p:sp>
      <p:sp>
        <p:nvSpPr>
          <p:cNvPr id="4" name="Rectangle 3"/>
          <p:cNvSpPr/>
          <p:nvPr/>
        </p:nvSpPr>
        <p:spPr>
          <a:xfrm>
            <a:off x="713232" y="138988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920240"/>
            <a:ext cx="6766560" cy="365760"/>
          </a:xfrm>
          <a:prstGeom prst="rect">
            <a:avLst/>
          </a:prstGeom>
          <a:noFill/>
        </p:spPr>
        <p:txBody>
          <a:bodyPr wrap="square" lIns="0" rIns="0" tIns="0" bIns="0">
            <a:spAutoFit/>
          </a:bodyPr>
          <a:lstStyle/>
          <a:p>
            <a:pPr>
              <a:lnSpc>
                <a:spcPct val="122000"/>
              </a:lnSpc>
              <a:spcAft>
                <a:spcPts val="1400"/>
              </a:spcAft>
            </a:pPr>
            <a:r>
              <a:rPr sz="1400" b="1">
                <a:solidFill>
                  <a:srgbClr val="0F1B2D"/>
                </a:solidFill>
                <a:latin typeface="Segoe UI"/>
              </a:rPr>
              <a:t>Aucune mesure de couverture de code.</a:t>
            </a:r>
            <a:r>
              <a:rPr sz="1400">
                <a:solidFill>
                  <a:srgbClr val="1F2A37"/>
                </a:solidFill>
                <a:latin typeface="Segoe UI"/>
              </a:rPr>
              <a:t> Les 55 tests protègent les règles critiques, mais la proportion de code exercée n'est pas connue.</a:t>
            </a:r>
          </a:p>
          <a:p>
            <a:pPr>
              <a:lnSpc>
                <a:spcPct val="122000"/>
              </a:lnSpc>
              <a:spcAft>
                <a:spcPts val="1400"/>
              </a:spcAft>
            </a:pPr>
            <a:r>
              <a:rPr sz="1400" b="1">
                <a:solidFill>
                  <a:srgbClr val="0F1B2D"/>
                </a:solidFill>
                <a:latin typeface="Segoe UI"/>
              </a:rPr>
              <a:t>Trois modules sans tests dédiés.</a:t>
            </a:r>
            <a:r>
              <a:rPr sz="1400">
                <a:solidFill>
                  <a:srgbClr val="1F2A37"/>
                </a:solidFill>
                <a:latin typeface="Segoe UI"/>
              </a:rPr>
              <a:t> Discussions, partenariats et génération PDF : validés manuellement seulement.</a:t>
            </a:r>
          </a:p>
          <a:p>
            <a:pPr>
              <a:lnSpc>
                <a:spcPct val="122000"/>
              </a:lnSpc>
              <a:spcAft>
                <a:spcPts val="1400"/>
              </a:spcAft>
            </a:pPr>
            <a:r>
              <a:rPr sz="1400" b="1">
                <a:solidFill>
                  <a:srgbClr val="0F1B2D"/>
                </a:solidFill>
                <a:latin typeface="Segoe UI"/>
              </a:rPr>
              <a:t>Pas de campagne de performance.</a:t>
            </a:r>
            <a:r>
              <a:rPr sz="1400">
                <a:solidFill>
                  <a:srgbClr val="1F2A37"/>
                </a:solidFill>
                <a:latin typeface="Segoe UI"/>
              </a:rPr>
              <a:t> Aucune mesure sous charge au-delà de quelques dizaines d'utilisateurs simultanés.</a:t>
            </a:r>
          </a:p>
          <a:p>
            <a:pPr>
              <a:lnSpc>
                <a:spcPct val="122000"/>
              </a:lnSpc>
              <a:spcAft>
                <a:spcPts val="1400"/>
              </a:spcAft>
            </a:pPr>
            <a:r>
              <a:rPr sz="1400" b="1">
                <a:solidFill>
                  <a:srgbClr val="0F1B2D"/>
                </a:solidFill>
                <a:latin typeface="Segoe UI"/>
              </a:rPr>
              <a:t>Thème sombre non implémenté.</a:t>
            </a:r>
            <a:r>
              <a:rPr sz="1400">
                <a:solidFill>
                  <a:srgbClr val="1F2A37"/>
                </a:solidFill>
                <a:latin typeface="Segoe UI"/>
              </a:rPr>
              <a:t> Mentionné dans les exigences non fonctionnelles ; le travail n'a pas été fait.</a:t>
            </a:r>
          </a:p>
          <a:p>
            <a:pPr>
              <a:lnSpc>
                <a:spcPct val="122000"/>
              </a:lnSpc>
              <a:spcAft>
                <a:spcPts val="1400"/>
              </a:spcAft>
            </a:pPr>
            <a:r>
              <a:rPr sz="1400" b="1">
                <a:solidFill>
                  <a:srgbClr val="0F1B2D"/>
                </a:solidFill>
                <a:latin typeface="Segoe UI"/>
              </a:rPr>
              <a:t>Accessibilité partielle.</a:t>
            </a:r>
            <a:r>
              <a:rPr sz="1400">
                <a:solidFill>
                  <a:srgbClr val="1F2A37"/>
                </a:solidFill>
                <a:latin typeface="Segoe UI"/>
              </a:rPr>
              <a:t> Bonnes pratiques appliquées, mais aucun audit selon un référentiel formel.</a:t>
            </a:r>
          </a:p>
          <a:p>
            <a:pPr>
              <a:lnSpc>
                <a:spcPct val="122000"/>
              </a:lnSpc>
              <a:spcAft>
                <a:spcPts val="1400"/>
              </a:spcAft>
            </a:pPr>
            <a:r>
              <a:rPr sz="1400" b="1">
                <a:solidFill>
                  <a:srgbClr val="0F1B2D"/>
                </a:solidFill>
                <a:latin typeface="Segoe UI"/>
              </a:rPr>
              <a:t>Historique de version à assainir.</a:t>
            </a:r>
            <a:r>
              <a:rPr sz="1400">
                <a:solidFill>
                  <a:srgbClr val="1F2A37"/>
                </a:solidFill>
                <a:latin typeface="Segoe UI"/>
              </a:rPr>
              <a:t> Un identifiant de base a figuré dans un fichier versionné ; le mot de passe a été changé, la purge de l'historique reste à faire.</a:t>
            </a:r>
          </a:p>
        </p:txBody>
      </p:sp>
      <p:sp>
        <p:nvSpPr>
          <p:cNvPr id="6" name="Rectangle 5"/>
          <p:cNvSpPr/>
          <p:nvPr/>
        </p:nvSpPr>
        <p:spPr>
          <a:xfrm>
            <a:off x="8028432" y="1883664"/>
            <a:ext cx="3474720" cy="3840480"/>
          </a:xfrm>
          <a:prstGeom prst="rect">
            <a:avLst/>
          </a:prstGeom>
          <a:solidFill>
            <a:srgbClr val="F3F6FA"/>
          </a:solidFill>
          <a:ln w="12700">
            <a:solidFill>
              <a:srgbClr val="D8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02752" y="2121408"/>
            <a:ext cx="2926080" cy="274320"/>
          </a:xfrm>
          <a:prstGeom prst="rect">
            <a:avLst/>
          </a:prstGeom>
          <a:noFill/>
        </p:spPr>
        <p:txBody>
          <a:bodyPr wrap="square" lIns="0" rIns="0" tIns="0" bIns="0" anchor="t">
            <a:spAutoFit/>
          </a:bodyPr>
          <a:lstStyle/>
          <a:p>
            <a:pPr algn="l">
              <a:lnSpc>
                <a:spcPct val="95000"/>
              </a:lnSpc>
              <a:spcAft>
                <a:spcPts val="0"/>
              </a:spcAft>
            </a:pPr>
            <a:r>
              <a:rPr sz="1100" b="1">
                <a:solidFill>
                  <a:srgbClr val="3B6EA5"/>
                </a:solidFill>
                <a:latin typeface="Segoe UI"/>
              </a:rPr>
              <a:t>PERSPECTIVES</a:t>
            </a:r>
          </a:p>
        </p:txBody>
      </p:sp>
      <p:sp>
        <p:nvSpPr>
          <p:cNvPr id="8" name="TextBox 7"/>
          <p:cNvSpPr txBox="1"/>
          <p:nvPr/>
        </p:nvSpPr>
        <p:spPr>
          <a:xfrm>
            <a:off x="8302752" y="2487168"/>
            <a:ext cx="2926080" cy="365760"/>
          </a:xfrm>
          <a:prstGeom prst="rect">
            <a:avLst/>
          </a:prstGeom>
          <a:noFill/>
        </p:spPr>
        <p:txBody>
          <a:bodyPr wrap="square" lIns="0" rIns="0" tIns="0" bIns="0">
            <a:spAutoFit/>
          </a:bodyPr>
          <a:lstStyle/>
          <a:p>
            <a:pPr>
              <a:lnSpc>
                <a:spcPct val="122000"/>
              </a:lnSpc>
              <a:spcAft>
                <a:spcPts val="1300"/>
              </a:spcAft>
            </a:pPr>
            <a:r>
              <a:rPr sz="1250">
                <a:solidFill>
                  <a:srgbClr val="1F2A37"/>
                </a:solidFill>
                <a:latin typeface="Segoe UI"/>
              </a:rPr>
              <a:t>Outiller la couverture de code</a:t>
            </a:r>
          </a:p>
          <a:p>
            <a:pPr>
              <a:lnSpc>
                <a:spcPct val="122000"/>
              </a:lnSpc>
              <a:spcAft>
                <a:spcPts val="1300"/>
              </a:spcAft>
            </a:pPr>
            <a:r>
              <a:rPr sz="1250">
                <a:solidFill>
                  <a:srgbClr val="1F2A37"/>
                </a:solidFill>
                <a:latin typeface="Segoe UI"/>
              </a:rPr>
              <a:t>Étendre les tests aux trois modules restants</a:t>
            </a:r>
          </a:p>
          <a:p>
            <a:pPr>
              <a:lnSpc>
                <a:spcPct val="122000"/>
              </a:lnSpc>
              <a:spcAft>
                <a:spcPts val="1300"/>
              </a:spcAft>
            </a:pPr>
            <a:r>
              <a:rPr sz="1250">
                <a:solidFill>
                  <a:srgbClr val="1F2A37"/>
                </a:solidFill>
                <a:latin typeface="Segoe UI"/>
              </a:rPr>
              <a:t>Rafraîchissement de session transparent</a:t>
            </a:r>
          </a:p>
          <a:p>
            <a:pPr>
              <a:lnSpc>
                <a:spcPct val="122000"/>
              </a:lnSpc>
              <a:spcAft>
                <a:spcPts val="1300"/>
              </a:spcAft>
            </a:pPr>
            <a:r>
              <a:rPr sz="1250">
                <a:solidFill>
                  <a:srgbClr val="1F2A37"/>
                </a:solidFill>
                <a:latin typeface="Segoe UI"/>
              </a:rPr>
              <a:t>Découpage du paquet client</a:t>
            </a:r>
          </a:p>
          <a:p>
            <a:pPr>
              <a:lnSpc>
                <a:spcPct val="122000"/>
              </a:lnSpc>
              <a:spcAft>
                <a:spcPts val="1300"/>
              </a:spcAft>
            </a:pPr>
            <a:r>
              <a:rPr sz="1250">
                <a:solidFill>
                  <a:srgbClr val="1F2A37"/>
                </a:solidFill>
                <a:latin typeface="Segoe UI"/>
              </a:rPr>
              <a:t>Purge de l'historique du dépôt</a:t>
            </a:r>
          </a:p>
        </p:txBody>
      </p:sp>
      <p:sp>
        <p:nvSpPr>
          <p:cNvPr id="9" name="TextBox 8"/>
          <p:cNvSpPr txBox="1"/>
          <p:nvPr/>
        </p:nvSpPr>
        <p:spPr>
          <a:xfrm>
            <a:off x="713232" y="6382512"/>
            <a:ext cx="5486400" cy="237744"/>
          </a:xfrm>
          <a:prstGeom prst="rect">
            <a:avLst/>
          </a:prstGeom>
          <a:noFill/>
        </p:spPr>
        <p:txBody>
          <a:bodyPr wrap="square" lIns="0" rIns="0" tIns="0" bIns="0" anchor="t">
            <a:spAutoFit/>
          </a:bodyPr>
          <a:lstStyle/>
          <a:p>
            <a:pPr algn="l">
              <a:lnSpc>
                <a:spcPct val="95000"/>
              </a:lnSpc>
              <a:spcAft>
                <a:spcPts val="0"/>
              </a:spcAft>
            </a:pPr>
            <a:r>
              <a:rPr sz="950" b="0">
                <a:solidFill>
                  <a:srgbClr val="64748B"/>
                </a:solidFill>
                <a:latin typeface="Segoe UI"/>
              </a:rPr>
              <a:t>LIAS — Système de gestion de laboratoire</a:t>
            </a:r>
          </a:p>
        </p:txBody>
      </p:sp>
      <p:sp>
        <p:nvSpPr>
          <p:cNvPr id="10" name="TextBox 9"/>
          <p:cNvSpPr txBox="1"/>
          <p:nvPr/>
        </p:nvSpPr>
        <p:spPr>
          <a:xfrm>
            <a:off x="10381183" y="6382512"/>
            <a:ext cx="1097280" cy="237744"/>
          </a:xfrm>
          <a:prstGeom prst="rect">
            <a:avLst/>
          </a:prstGeom>
          <a:noFill/>
        </p:spPr>
        <p:txBody>
          <a:bodyPr wrap="square" lIns="0" rIns="0" tIns="0" bIns="0" anchor="t">
            <a:spAutoFit/>
          </a:bodyPr>
          <a:lstStyle/>
          <a:p>
            <a:pPr algn="r">
              <a:lnSpc>
                <a:spcPct val="95000"/>
              </a:lnSpc>
              <a:spcAft>
                <a:spcPts val="0"/>
              </a:spcAft>
            </a:pPr>
            <a:r>
              <a:rPr sz="950" b="0">
                <a:solidFill>
                  <a:srgbClr val="64748B"/>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664208"/>
            <a:ext cx="2743200" cy="274320"/>
          </a:xfrm>
          <a:prstGeom prst="rect">
            <a:avLst/>
          </a:prstGeom>
          <a:noFill/>
        </p:spPr>
        <p:txBody>
          <a:bodyPr wrap="square" lIns="0" rIns="0" tIns="0" bIns="0" anchor="t">
            <a:spAutoFit/>
          </a:bodyPr>
          <a:lstStyle/>
          <a:p>
            <a:pPr algn="l">
              <a:lnSpc>
                <a:spcPct val="95000"/>
              </a:lnSpc>
              <a:spcAft>
                <a:spcPts val="0"/>
              </a:spcAft>
            </a:pPr>
            <a:r>
              <a:rPr sz="1150" b="1">
                <a:solidFill>
                  <a:srgbClr val="8FB0D0"/>
                </a:solidFill>
                <a:latin typeface="Segoe UI"/>
              </a:rPr>
              <a:t>CONCLUSION</a:t>
            </a:r>
          </a:p>
        </p:txBody>
      </p:sp>
      <p:sp>
        <p:nvSpPr>
          <p:cNvPr id="4" name="TextBox 3"/>
          <p:cNvSpPr txBox="1"/>
          <p:nvPr/>
        </p:nvSpPr>
        <p:spPr>
          <a:xfrm>
            <a:off x="713232" y="2048256"/>
            <a:ext cx="10058400" cy="914400"/>
          </a:xfrm>
          <a:prstGeom prst="rect">
            <a:avLst/>
          </a:prstGeom>
          <a:noFill/>
        </p:spPr>
        <p:txBody>
          <a:bodyPr wrap="square" lIns="0" rIns="0" tIns="0" bIns="0" anchor="t">
            <a:spAutoFit/>
          </a:bodyPr>
          <a:lstStyle/>
          <a:p>
            <a:pPr algn="l">
              <a:lnSpc>
                <a:spcPct val="115000"/>
              </a:lnSpc>
              <a:spcAft>
                <a:spcPts val="0"/>
              </a:spcAft>
            </a:pPr>
            <a:r>
              <a:rPr sz="3400" b="0">
                <a:solidFill>
                  <a:srgbClr val="FFFFFF"/>
                </a:solidFill>
                <a:latin typeface="Segoe UI Light"/>
              </a:rPr>
              <a:t>Un système où la gouvernance
ne se déclare pas : elle se déduit.</a:t>
            </a:r>
          </a:p>
        </p:txBody>
      </p:sp>
      <p:sp>
        <p:nvSpPr>
          <p:cNvPr id="5" name="Rectangle 4"/>
          <p:cNvSpPr/>
          <p:nvPr/>
        </p:nvSpPr>
        <p:spPr>
          <a:xfrm>
            <a:off x="713232" y="3401568"/>
            <a:ext cx="1051560" cy="4064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3767328"/>
            <a:ext cx="6035040" cy="365760"/>
          </a:xfrm>
          <a:prstGeom prst="rect">
            <a:avLst/>
          </a:prstGeom>
          <a:noFill/>
        </p:spPr>
        <p:txBody>
          <a:bodyPr wrap="square" lIns="0" rIns="0" tIns="0" bIns="0">
            <a:spAutoFit/>
          </a:bodyPr>
          <a:lstStyle/>
          <a:p>
            <a:pPr>
              <a:lnSpc>
                <a:spcPct val="122000"/>
              </a:lnSpc>
              <a:spcAft>
                <a:spcPts val="1300"/>
              </a:spcAft>
            </a:pPr>
            <a:r>
              <a:rPr sz="1450">
                <a:solidFill>
                  <a:srgbClr val="8FB0D0"/>
                </a:solidFill>
                <a:latin typeface="Segoe UI"/>
              </a:rPr>
              <a:t>Les 21 sections du cahier des charges sont couvertes et tracées.</a:t>
            </a:r>
          </a:p>
          <a:p>
            <a:pPr>
              <a:lnSpc>
                <a:spcPct val="122000"/>
              </a:lnSpc>
              <a:spcAft>
                <a:spcPts val="1300"/>
              </a:spcAft>
            </a:pPr>
            <a:r>
              <a:rPr sz="1450">
                <a:solidFill>
                  <a:srgbClr val="8FB0D0"/>
                </a:solidFill>
                <a:latin typeface="Segoe UI"/>
              </a:rPr>
              <a:t>Le rôle applicatif n'est jamais saisi : il découle du statut et des mandats.</a:t>
            </a:r>
          </a:p>
          <a:p>
            <a:pPr>
              <a:lnSpc>
                <a:spcPct val="122000"/>
              </a:lnSpc>
              <a:spcAft>
                <a:spcPts val="1300"/>
              </a:spcAft>
            </a:pPr>
            <a:r>
              <a:rPr sz="1450">
                <a:solidFill>
                  <a:srgbClr val="8FB0D0"/>
                </a:solidFill>
                <a:latin typeface="Segoe UI"/>
              </a:rPr>
              <a:t>55 tests automatisés et un audit fonctionnel complet, cinq défauts réels corrigés.</a:t>
            </a:r>
          </a:p>
          <a:p>
            <a:pPr>
              <a:lnSpc>
                <a:spcPct val="122000"/>
              </a:lnSpc>
              <a:spcAft>
                <a:spcPts val="1300"/>
              </a:spcAft>
            </a:pPr>
            <a:r>
              <a:rPr sz="1450">
                <a:solidFill>
                  <a:srgbClr val="8FB0D0"/>
                </a:solidFill>
                <a:latin typeface="Segoe UI"/>
              </a:rPr>
              <a:t>Les limites sont documentées plutôt que dissimulées.</a:t>
            </a:r>
          </a:p>
        </p:txBody>
      </p:sp>
      <p:sp>
        <p:nvSpPr>
          <p:cNvPr id="7" name="TextBox 6"/>
          <p:cNvSpPr txBox="1"/>
          <p:nvPr/>
        </p:nvSpPr>
        <p:spPr>
          <a:xfrm>
            <a:off x="7455103" y="4041648"/>
            <a:ext cx="4023360" cy="1463040"/>
          </a:xfrm>
          <a:prstGeom prst="rect">
            <a:avLst/>
          </a:prstGeom>
          <a:noFill/>
        </p:spPr>
        <p:txBody>
          <a:bodyPr wrap="square" lIns="0" rIns="0" tIns="0" bIns="0" anchor="t">
            <a:spAutoFit/>
          </a:bodyPr>
          <a:lstStyle/>
          <a:p>
            <a:pPr algn="r">
              <a:lnSpc>
                <a:spcPct val="95000"/>
              </a:lnSpc>
              <a:spcAft>
                <a:spcPts val="0"/>
              </a:spcAft>
            </a:pPr>
            <a:r>
              <a:rPr sz="2200" b="0">
                <a:solidFill>
                  <a:srgbClr val="FFFFFF"/>
                </a:solidFill>
                <a:latin typeface="Segoe UI Light"/>
              </a:rPr>
              <a:t>Merci de votre attention</a:t>
            </a:r>
          </a:p>
        </p:txBody>
      </p:sp>
      <p:sp>
        <p:nvSpPr>
          <p:cNvPr id="8" name="TextBox 7"/>
          <p:cNvSpPr txBox="1"/>
          <p:nvPr/>
        </p:nvSpPr>
        <p:spPr>
          <a:xfrm>
            <a:off x="7455103" y="4590288"/>
            <a:ext cx="4023360" cy="822960"/>
          </a:xfrm>
          <a:prstGeom prst="rect">
            <a:avLst/>
          </a:prstGeom>
          <a:noFill/>
        </p:spPr>
        <p:txBody>
          <a:bodyPr wrap="square" lIns="0" rIns="0" tIns="0" bIns="0" anchor="t">
            <a:spAutoFit/>
          </a:bodyPr>
          <a:lstStyle/>
          <a:p>
            <a:pPr algn="r">
              <a:lnSpc>
                <a:spcPct val="130000"/>
              </a:lnSpc>
              <a:spcAft>
                <a:spcPts val="0"/>
              </a:spcAft>
            </a:pPr>
            <a:r>
              <a:rPr sz="1250" b="0">
                <a:solidFill>
                  <a:srgbClr val="8FB0D0"/>
                </a:solidFill>
                <a:latin typeface="Segoe UI"/>
              </a:rPr>
              <a:t>Douae Moussaoui
Master Data Science &amp; Big Data
FS Ben M'Sik — Université Hassan 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