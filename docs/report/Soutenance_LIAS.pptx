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s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886233" cy="713232"/>
          </a:xfrm>
          <a:prstGeom prst="rect">
            <a:avLst/>
          </a:prstGeom>
        </p:spPr>
      </p:pic>
      <p:pic>
        <p:nvPicPr>
          <p:cNvPr id="6" name="Picture 5" descr="ds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676656"/>
            <a:ext cx="1880017" cy="6035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755648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Université Hassan II de Casablanca  ·  Faculté des Sciences Ben M'Sik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8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Master Data Science &amp; Big Data  ·  Année universitaire 2025–2026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248716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706624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PROJET DE FIN DE MODULE · JAVA ENTERPRISE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Plateforme de gestion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du laboratoire LIAS</a:t>
            </a:r>
          </a:p>
        </p:txBody>
      </p:sp>
      <p:pic>
        <p:nvPicPr>
          <p:cNvPr id="12" name="Picture 11" descr="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434840"/>
            <a:ext cx="2132054" cy="71323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5532120"/>
            <a:ext cx="10607040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Réalisé 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98464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Douae Moussaoui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7607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Encadrant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998464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Pr. Abdessamad Belangour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01 · LE SUJET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Un laboratoire à outiller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Le LIAS gère aujourd'hui ses membres, ses mandats et sa production scientifique sans outil unifié.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62907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6492240" cy="842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Le cahier des charges demande « deux applications en une » : un site institutionnel ouvert au public, et un système d'information interne.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1221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091434"/>
            <a:ext cx="6492240" cy="842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Il couvre tout le cycle de vie du laboratoire : adhésions, statuts, gouvernance, publications, événements, matériel, conventions, procès-verbaux, rapport annuel.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39535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079747"/>
            <a:ext cx="6492240" cy="56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Une règle générale domine tout le reste : aucune donnée ne doit jamais être perdue.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103120"/>
            <a:ext cx="3685032" cy="310896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2359152"/>
            <a:ext cx="15544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936667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2359152"/>
            <a:ext cx="15544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2936667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modules
fonctionnels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858768"/>
            <a:ext cx="15544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436283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rôles
applicatifs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858768"/>
            <a:ext cx="15544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436283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statuts
d'appartenance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3212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1">
                <a:solidFill>
                  <a:srgbClr val="2D5CA0"/>
                </a:solidFill>
                <a:latin typeface="Calibri"/>
              </a:rPr>
              <a:t>La difficulté n'est pas le nombre de modules : elle est dans les règles qui les relient.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02 · LA DIFFICULTÉ CENTRALE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5544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Georgia"/>
              </a:rPr>
              <a:t>STATUT  ≠  MANDAT  ≠ 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Le cahier des charges interdit de confondre ces trois notions. Elles se ressemblent, et c'est précisément le piège.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51560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363931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STATUT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023360"/>
            <a:ext cx="257860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Appartenance au laboratoire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553712"/>
            <a:ext cx="25786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Permanent · Associé · Doctorant
Retraité · Ancien membre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53128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363931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MANDAT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023360"/>
            <a:ext cx="257860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Responsabilité institutionnelle, datée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553712"/>
            <a:ext cx="25786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Directeur · Vice-directeur
Chef d'équipe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54696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363931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RÔLE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9016" y="4023360"/>
            <a:ext cx="257860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Droits dans l'application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4553712"/>
            <a:ext cx="257860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9 valeurs, jamais saisies
à la 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Un retraité qui reste directeur en base ne doit conserver aucun droit. Le système doit l'imposer, pas l'espérer.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02 · LA RÉPONSE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rôle est calculé, jamais saisi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service unique dérive le rôle effectif ; aucun écran ne permet de le fixer à la main.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48840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STATUT
courant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27832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MANDATS
actifs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44368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03320" y="2148840"/>
            <a:ext cx="3703320" cy="1975104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03320" y="2148840"/>
            <a:ext cx="3703320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0" y="2487168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UserRoleSyncService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944368"/>
            <a:ext cx="3429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calcule le rôle,
l'historise avec sa cause,
et le réconcilie au démarrage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571231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2578608"/>
            <a:ext cx="2926080" cy="1115568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2962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RÔLE EFFECTIF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825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526280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Un statut gelé — retraité ou ancien membre — l'emporte sur tout mandat résiduel.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93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936744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À défaut, le mandat le plus élevé décide ; à défaut de mandat, le statut décide.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03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5347208"/>
            <a:ext cx="10424159" cy="528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Chaque changement ouvre une ligne d'historique portant sa cause. La réconciliation au démarrage est idempotente : elle n'écrit rien si tout est déjà cohérent.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03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Architecture en trois tiers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04872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React 19 · Vite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21 pages · 27 composants
8 modules de design system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42231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1874519"/>
            <a:ext cx="338328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2103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04872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Spring Boot 3.3 · Java 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1635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22 contrôleurs REST · 28 services
sécurité par méthode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45552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244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103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PERSISTANCE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04872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PostgreSQL 18 · Flyway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81635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30 entités JPA · 30 tables
schéma versionné V1 → V3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5020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AUTRES BRIQUES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539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4297680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Sécurité : Spring Security 6.3, JWT signé HS512 (jjwt 0.12.6), BCrypt coût 12.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644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708144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Aucune bibliothèque d'interface tierce : le système de composants est écrit pour le projet.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1748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0120" y="5118608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Rapport annuel généré en PDF, planifié au 1ᵉʳ janvier ; envoi de courriel intégré.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portail public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Accessible sans compte, conformément au §2.1 du cahier des charges.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Présente le laboratoire, ses équipes, ses publications et ses événements.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Point d'entrée de la demande d'adhésion en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01-portail-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tableau de bord interne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Ce que voit l'utilisateur dépend de son rôle effectif, pas d'un paramétrage.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6348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714244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Indicateurs calculés sur les données réelles du laboratoire.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Recherche transverse accessible depuis toutes les pages.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04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La gouvernance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L'organigramme n'est pas saisi : il est déduit des mandats actifs.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mandat clos reste dans l'historique ; il disparaît seulement de l'exercice.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poste sans titulaire est affiché comme vacant, non masqué.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09-gouvernance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journal d'audit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Chaque opération sensible laisse une trace datée et attribuée.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Écrit dans une transaction indépendante : la trace survit à l'annulation.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Consultable par l'administrateur système et la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20-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jeton n'est pas cru sur parole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choix de conception à contre-courant de l'usage, et assumé comme tel.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5120640" cy="214884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5A6472"/>
                </a:solidFill>
                <a:latin typeface="Calibri"/>
              </a:rPr>
              <a:t>L'USAGE RÉPANDU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46177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Le rôle est lu dans le jeton. Tant que le jeton n'a pas expiré, il transporte des droits qui peuvent avoir été révoqués entre-temps.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349240" cy="21488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CE QUI EST FAIT ICI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87752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À chaque requête, les habilitations sont rechargées depuis la base. Le rôle inscrit dans le jeton n'autorise rien : il n'est là que pour le client.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4539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10424159" cy="528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Conséquence : mettre un membre à la retraite lui coupe l'accès à la requête suivante, sans aucune liste de jetons révoqués à tenir.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20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5063744"/>
            <a:ext cx="10424159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Coût assumé : une lecture de base supplémentaire par requête.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30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5474208"/>
            <a:ext cx="10424159" cy="528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Mots de passe hachés BCrypt coût 12. Clé de signature obligatoire, 64 octets minimum, sans valeur par défaut : sans elle, le serveur refuse de démarrer.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TRAÇABILITÉ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Rien n'est jamais détruit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Règle §21 du cahier des charges, appliquée de bout en bout.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Suppression logique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Aucun DELETE. Les lignes archivées sont filtrées au niveau du mapping, jamais effacées.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9184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Quatre historiques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5760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Statuts, rôles, affiliations, appartenances d'équipe : chaque changement ouvre une période datée.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57200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Journal d'audit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Transaction indépendante : la trace subsiste même si l'opération auditée est annulée.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3036" y="1979676"/>
            <a:ext cx="5550408" cy="349300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12-demandes-adhe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011680"/>
            <a:ext cx="5486400" cy="3429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56235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A6472"/>
                </a:solidFill>
                <a:latin typeface="Calibri"/>
              </a:rPr>
              <a:t>Une décision d'adhésion : réservée au directeur en mandat, et tracée.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91 tests automatisés, aucun échec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L'effort de test vise les règles dont une régression serait à la fois plausible et grave.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7680960" cy="310896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20824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02082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20824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RÈGLE PROTÉGÉE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76856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3271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UserRoleSyncServiceTest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32714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271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Dérivation statut / mandat / rôle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33472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AuthorizationMatrixTest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633472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33472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Matrice d'autorisation des 9 rôles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9503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2939796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EquipmentServiceTest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939796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39796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Invariant de stock du matériel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24612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MemberServiceTest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24612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24612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Archivage, retour, avatar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02152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3552444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NotificationServiceTest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55244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552444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Ciblage ; propriété du destinataire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85876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CustomUserDetailsTest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58768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85876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Gel retraités ; membre archivé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114800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4165091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JwtSigningKeyTest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4165091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165091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Clé de signature obligatoire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471416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AdminAccountInitializerTest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4471416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471416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Amorçage de l'administrateur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27448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477774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GlobalSearchServiceTest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0520" y="47777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77774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Doctorants : modules internes fermés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084064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AuditTrailIntegrationTest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0520" y="508406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084064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Audit transactionnel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1965960"/>
            <a:ext cx="2606040" cy="14630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006840" y="2221991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92608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tests · 0 échec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15400" y="330098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alibri"/>
              </a:rPr>
              <a:t>19 classes de test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3703320"/>
            <a:ext cx="2651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Deux niveaux : des tests unitaires isolés par doubles, et deux suites d'intégration qui démarrent le contexte Spring complet sur une base en mémoire.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534924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1">
                <a:solidFill>
                  <a:srgbClr val="2D5CA0"/>
                </a:solidFill>
                <a:latin typeface="Calibri"/>
              </a:rPr>
              <a:t>Aucune couverture de code n'est annoncée : aucun outil n'est configuré.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Sept défauts trouvés, sept défauts corrigés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Aucun n'aurait été révélé par la compilation : ils viennent d'un parcours réel et d'une relecture.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0208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9339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Rôle obsolète sur d'anciens comptes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67728" y="20711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60920" y="199339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Réconciliation ajoutée au démarrage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774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46603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1917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Commandes visibles mais refusées au vice-directeur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967728" y="25968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60920" y="25191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Interface alignée sur le serveur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322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7238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04495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Paramètre invalide : erreur 500 au lieu de 400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67728" y="312267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20" y="304495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Gestionnaires dédiés et 4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42900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359816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57073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Réponse 401 au corps vide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967728" y="364845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60920" y="357073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Convertisseur JSON du contexte injecté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5478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12394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9651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Mandat actif conservé par un membre archivé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67728" y="417423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60920" y="409651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Clôture à l'archivage, garde-fou en lecture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8056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46497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62229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Administrateur d'amorçage à secret connu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967728" y="47000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60920" y="462229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Profil dev, secret externalisé, rotation exigée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0063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17550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14807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Clé de signature à valeur de repli active en production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967728" y="52257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60920" y="51480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Variable obligatoire, contrôle au démarrage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742432"/>
            <a:ext cx="10835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Ces sept défauts viennent de l'audit fonctionnel. L'audit de sécurité du code en a corrigé 5 critiques (P0) et 9 additionnelles — voir AUDIT.md.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07 ·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Ce qui a été livré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10835640" cy="14173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66543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44059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 couvertes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066543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8376" y="2644059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entités JPA
30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066543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2644059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contrôleurs REST
sous /api/v1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2066543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644059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pages d'interface
21 routes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3" y="2066543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3" y="2644059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tests automatisés
0 échec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118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VOLUMÉTRIE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50208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10 285 lignes de Java côté serveur, 1 946 lignes de tests, 13 471 lignes de JavaScript côté client, 750 lignes de migration SQL.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Le rapport qui accompagne ce travail compte 85 pages, 35 figures et 19 tableaux.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LIMITES ASSUMÉES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99944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3950208"/>
            <a:ext cx="493776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Pas de thème sombre, pourtant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34971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4300474"/>
            <a:ext cx="493776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mesure de couverture : rien n'est annoncé.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9997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4650740"/>
            <a:ext cx="493776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Trois modules sans tests dédiés, validés manuellement.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5024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5001006"/>
            <a:ext cx="493776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campagne de performance sous charge.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08 ·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prolongement naturel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Il rejoint précisément la spécialité du Master.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00" cy="3246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COURT ET MOYEN TERME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4671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41605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Thème sombre et outil de couverture de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17013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3120898"/>
            <a:ext cx="4160520" cy="44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Tests automatisés sur les trois modules découverts.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1580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3766566"/>
            <a:ext cx="41605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Rafraîchissement transparent du jeton d'accès.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3922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4189984"/>
            <a:ext cx="41605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Découpage du paquet client par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11680"/>
            <a:ext cx="5349240" cy="324612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201168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LE VRAI PROLONGEMENT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4800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500" b="0" i="0">
                <a:solidFill>
                  <a:srgbClr val="C8D2E0"/>
                </a:solidFill>
                <a:latin typeface="Calibri"/>
              </a:rPr>
              <a:t>Parce qu'aucune donnée n'est détruite, chaque table d'historique est déjà une série temporelle : évolution des effectifs par statut, productivité des équipes, durée moyenne des mandats, saisonnalité de l'activité.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34840"/>
            <a:ext cx="480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La base est conçue pour qu'on puisse l'analyser, pas seulement la consulter.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04688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2D5CA0"/>
                </a:solidFill>
                <a:latin typeface="Calibri"/>
              </a:rPr>
              <a:t>C'est l'articulation la plus directe entre ce projet de module JEE et la finalité du Master.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99669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Une plateforme où le rôle d'un membre ne peut pas mentir sur sa situation réelle, et où aucune trace du passé du laboratoire n'est perdue.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2743200" cy="18288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484632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21 sections du cahier des charges couvertes · 91 tests sans échec · 7 défauts fonctionnels, 5 critiques et 9 additionnelles · limites assumées.</a:t>
            </a:r>
          </a:p>
        </p:txBody>
      </p:sp>
      <p:pic>
        <p:nvPicPr>
          <p:cNvPr id="8" name="Picture 7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92040"/>
            <a:ext cx="666454" cy="10515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920240"/>
            <a:ext cx="2405395" cy="8046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800" b="1" i="0">
                <a:solidFill>
                  <a:srgbClr val="1C2638"/>
                </a:solidFill>
                <a:latin typeface="Georgia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32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2D5CA0"/>
                </a:solidFill>
                <a:latin typeface="Calibri"/>
              </a:rPr>
              <a:t>Vos questions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6048" y="468172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Douae Moussaoui  ·  Encadrant : Pr. Abdessamad Belangour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Master Data Science &amp; Big Data  ·  Faculté des Sciences Ben M'Sik  ·  2025–2026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1610</Words>
  <Application>Microsoft Office PowerPoint</Application>
  <PresentationFormat>Grand écran</PresentationFormat>
  <Paragraphs>234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Douaa Moussaoui</cp:lastModifiedBy>
  <cp:revision>2</cp:revision>
  <dcterms:created xsi:type="dcterms:W3CDTF">2013-01-27T09:14:16Z</dcterms:created>
  <dcterms:modified xsi:type="dcterms:W3CDTF">2026-10-02T15:02:02Z</dcterms:modified>
  <cp:category/>
</cp:coreProperties>
</file>